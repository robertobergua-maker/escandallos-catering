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6f2cc6e6-f466-846d-e57a-67d15ed4361a}">
          <p14:sldIdLst>
            <p14:sldId id="256"/>
          </p14:sldIdLst>
        </p14:section>
        <p14:section name="Introducción" id="{6d968085-84b4-66a5-bca0-5002448ac8de}">
          <p14:sldIdLst>
            <p14:sldId id="257"/>
            <p14:sldId id="258"/>
            <p14:sldId id="259"/>
          </p14:sldIdLst>
        </p14:section>
        <p14:section name="Acceso" id="{901d4ec1-57dc-88da-c96a-176c39b0ed51}">
          <p14:sldIdLst>
            <p14:sldId id="260"/>
            <p14:sldId id="261"/>
            <p14:sldId id="262"/>
            <p14:sldId id="263"/>
          </p14:sldIdLst>
        </p14:section>
        <p14:section name="Recetas" id="{2c09acc0-21f4-c4ee-1db5-b35eec3e3c55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Menús" id="{afc96b56-3b5f-414c-5228-14b247ad0f8c}">
          <p14:sldIdLst>
            <p14:sldId id="278"/>
            <p14:sldId id="279"/>
            <p14:sldId id="280"/>
            <p14:sldId id="281"/>
          </p14:sldIdLst>
        </p14:section>
        <p14:section name="Clientes" id="{8ae01b86-2397-6d3e-e47d-08c502340ff3}">
          <p14:sldIdLst>
            <p14:sldId id="282"/>
            <p14:sldId id="283"/>
            <p14:sldId id="284"/>
          </p14:sldIdLst>
        </p14:section>
        <p14:section name="Presupuestos y facturas" id="{4e9e9787-cac7-dcd3-d789-8a656225906b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Funciones del gerente" id="{dc16cea9-a2a9-0be5-996e-d9c66fc73458}">
          <p14:sldIdLst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ierre" id="{82c80177-5674-16aa-d41b-789c1963a504}">
          <p14:sldIdLst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Este curso recorre la app de principio a fin con la organización de ejemplo «Demo» (datos inventados).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 del curso. Cada bloque tiene pasos y una captura. Lo marcado como «Solo gerente» no lo puede hacer el chef.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que la propiedad es de la organización. El gerente es quien emite documentos y gestiona la organización.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dos avisos son obligatorios en cualquier formación. Alérgenos = seguridad alimentaria.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el correo de recuperación se llega a «Nueva contraseña» / «Repite la contraseña» / «Guardar contraseña». «Continuar como invitado» es solo para probar: no guarda cambios.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paso solo aparece si el usuario aún no pertenece a ninguna organización.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sesión siempre en ordenadores compartidos. Al cambiar de organización activa se limpia el documento abierto en Facturas: guardar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«Limpiar todos» vacía la receta en pantalla, con confirmación. No borra el inventario ni la versión guardada.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 de las croquetas: coste 0,38 €; con 10 % de costes indirectos y 30 % de margen, PVP sin IVA ≈ 0,54 €; con 10 % de IVA, 0,60 €. Food Cost = 0,38 / 0,54 = 69,9 %. Si sale «-», faltan cantidades o precios.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margen se aplica sobre el coste y puede superar el 100 %: coste 10 € con margen 150 % = PVP sin IVA 25 €.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IA puede equivocarse o dejar filas sin cantidad (en el ejemplo, sal y pimienta). Revisar siempre antes de guardar.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gerente ve además el botón «Compartir» junto a «Cargar receta».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descarga con «Descargar ficha Excel». Un precio de 0,00 € en la ficha indica un ingrediente sin precio: revisarlo antes de dar el coste por bueno.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chef ve la lista de recetas compartidas, pero solo el gerente puede copiarlas. La copia es independiente de la receta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Tipos de menú: Cóctel, Buffet, Menú sentado, Catering y Otro. El pax es informativo: no cambia las 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menú usado en presupuestos o facturas no se puede eliminar. Las recetas nunca se borran al eliminar un menú.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 con datos inventados: Eventos Mediterráneo S.L.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Eliminar cliente pide escribir ELIMINAR. No eliminar clientes con documentos asociados.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Numeración anual por organización y tipo: PRE-AAAA-NNNN, FAC-AAAA-NNNN, REC-AAAA-NNNN. Un presupuesto emitido sí puede anularse.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ahora no se pueden eliminar documentos desde la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IVA viene por defecto de la organización. «Quitar último menú» y «Limpiar documento» para corregir. El número se asigna al emitir.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pestaña Miembros se ve cada persona con su rol y estado; «Desactivar» le quita el acceso. En la captura, el código está oculto a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razón social, NIF/CIF y dirección no se puede emitir. El logo sale en la cabecera de la app y en los documentos.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ingrediente privado en uso no se puede eliminar. Los que llegan al copiar recetas compartidas quedan pendientes de revisión.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otras organizaciones ven una vista previa sin precios y pueden hacer una copia independiente. En la captura 78 se ha ocultado el destino.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3B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5C3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de Escandallos · Formación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tipo de Samira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291840" y="13258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Gestor de Escandallos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32918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Formación para Chef y Gerente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3291840" y="2834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Samirarte · Versión 1.0 ·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vamos a ver</a:t>
            </a:r>
            <a:endParaRPr lang="en-US" sz="2600" dirty="0"/>
          </a:p>
        </p:txBody>
      </p:sp>
      <p:sp>
        <p:nvSpPr>
          <p:cNvPr id="3" name="Tarjeta Acceso"/>
          <p:cNvSpPr/>
          <p:nvPr/>
        </p:nvSpPr>
        <p:spPr>
          <a:xfrm>
            <a:off x="457200" y="11430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Entrar, contraseña, invitación, organización</a:t>
            </a:r>
            <a:endParaRPr lang="en-US" sz="1300" dirty="0"/>
          </a:p>
        </p:txBody>
      </p:sp>
      <p:sp>
        <p:nvSpPr>
          <p:cNvPr id="7" name="Tarjeta Recetas"/>
          <p:cNvSpPr/>
          <p:nvPr/>
        </p:nvSpPr>
        <p:spPr>
          <a:xfrm>
            <a:off x="3246120" y="11430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Recetas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20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Ingredientes, costes, alérgenos, IA</a:t>
            </a:r>
            <a:endParaRPr lang="en-US" sz="1300" dirty="0"/>
          </a:p>
        </p:txBody>
      </p:sp>
      <p:sp>
        <p:nvSpPr>
          <p:cNvPr id="11" name="Tarjeta Menús"/>
          <p:cNvSpPr/>
          <p:nvPr/>
        </p:nvSpPr>
        <p:spPr>
          <a:xfrm>
            <a:off x="6035040" y="11430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Menús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20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recetas y fichas técnicas</a:t>
            </a:r>
            <a:endParaRPr lang="en-US" sz="1300" dirty="0"/>
          </a:p>
        </p:txBody>
      </p:sp>
      <p:sp>
        <p:nvSpPr>
          <p:cNvPr id="15" name="Tarjeta Clientes"/>
          <p:cNvSpPr/>
          <p:nvPr/>
        </p:nvSpPr>
        <p:spPr>
          <a:xfrm>
            <a:off x="457200" y="29260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para presupuestos y facturas</a:t>
            </a:r>
            <a:endParaRPr lang="en-US" sz="1300" dirty="0"/>
          </a:p>
        </p:txBody>
      </p:sp>
      <p:sp>
        <p:nvSpPr>
          <p:cNvPr id="19" name="Tarjeta Facturas"/>
          <p:cNvSpPr/>
          <p:nvPr/>
        </p:nvSpPr>
        <p:spPr>
          <a:xfrm>
            <a:off x="3246120" y="29260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10896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Borrador, emitir, cobrar, rectificar</a:t>
            </a:r>
            <a:endParaRPr lang="en-US" sz="1300" dirty="0"/>
          </a:p>
        </p:txBody>
      </p:sp>
      <p:sp>
        <p:nvSpPr>
          <p:cNvPr id="23" name="Tarjeta Gerente"/>
          <p:cNvSpPr/>
          <p:nvPr/>
        </p:nvSpPr>
        <p:spPr>
          <a:xfrm>
            <a:off x="6035040" y="29260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0" y="310896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81228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Gerente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Miembros, datos, inventario, compartir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Organizaciones y roles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empresa es una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sus datos separados.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guardas es de la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 tuyo: todos sus miembros lo ven.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dos roles: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1097280"/>
          <a:ext cx="4480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3A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3A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3A2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Recetas, menús y clientes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Borradores y PDF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Emitir, cobrar, anular, rectificar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9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Copiar y compartir recetas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9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propios e ingredientes privados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9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Miembros, datos y logo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9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Avisos importantes</a:t>
            </a:r>
            <a:endParaRPr lang="en-US" sz="2600" dirty="0"/>
          </a:p>
        </p:txBody>
      </p:sp>
      <p:sp>
        <p:nvSpPr>
          <p:cNvPr id="3" name="Aviso Alérgenos"/>
          <p:cNvSpPr/>
          <p:nvPr/>
        </p:nvSpPr>
        <p:spPr>
          <a:xfrm>
            <a:off x="457200" y="109728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FBF3E4"/>
          </a:solidFill>
          <a:ln w="19050">
            <a:solidFill>
              <a:srgbClr val="A9322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457200" cy="457200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!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Alérgenos</a:t>
            </a:r>
            <a:endParaRPr lang="en-US" sz="2000" dirty="0"/>
          </a:p>
        </p:txBody>
      </p:sp>
      <p:sp>
        <p:nvSpPr>
          <p:cNvPr id="6" name="Puntos"/>
          <p:cNvSpPr txBox="1"/>
          <p:nvPr/>
        </p:nvSpPr>
        <p:spPr>
          <a:xfrm>
            <a:off x="731520" y="192024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ayuda, pero la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 final es del establecimiento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siempre las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los productos.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Ingredientes privados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copiadas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revisa sus alérgenos antes de usarlos.</a:t>
            </a:r>
            <a:endParaRPr lang="en-US" sz="1400" dirty="0"/>
          </a:p>
        </p:txBody>
      </p:sp>
      <p:sp>
        <p:nvSpPr>
          <p:cNvPr id="7" name="Aviso Facturación"/>
          <p:cNvSpPr/>
          <p:nvPr/>
        </p:nvSpPr>
        <p:spPr>
          <a:xfrm>
            <a:off x="4663440" y="109728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FBF3E4"/>
          </a:solidFill>
          <a:ln w="19050">
            <a:solidFill>
              <a:srgbClr val="A93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280160"/>
            <a:ext cx="457200" cy="457200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!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Facturación</a:t>
            </a:r>
            <a:endParaRPr lang="en-US" sz="2000" dirty="0"/>
          </a:p>
        </p:txBody>
      </p:sp>
      <p:sp>
        <p:nvSpPr>
          <p:cNvPr id="10" name="Puntos"/>
          <p:cNvSpPr txBox="1"/>
          <p:nvPr/>
        </p:nvSpPr>
        <p:spPr>
          <a:xfrm>
            <a:off x="4937760" y="192024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certificada VERI*FACTU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con tu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gestoría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antes de usarla como sistema fiscal.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Entrar, recuperar la contraseña y unirte a tu organización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Entrar en la aplicación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app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a la aplicación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84708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79222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barra lateral,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con Google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 escribe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sesión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57860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52374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Verás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iniciada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tu correo en la barra lateral.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331012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325526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¿Olvidaste la contraseña?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¿Has olvidado tu contraseña?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enlace de recuperación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1" name="Captura 00" descr="Portada con el botón «Entrar a la aplicación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1783080" cy="169458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2" name="Captura 01" descr="Acceso en la barra lateral: Entrar con Google, email y contraseñ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05840"/>
            <a:ext cx="1783080" cy="2372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Unirte a tu organización</a:t>
            </a:r>
            <a:endParaRPr lang="en-US" sz="2600" dirty="0"/>
          </a:p>
        </p:txBody>
      </p:sp>
      <p:sp>
        <p:nvSpPr>
          <p:cNvPr id="3" name="Etapa 1"/>
          <p:cNvSpPr/>
          <p:nvPr/>
        </p:nvSpPr>
        <p:spPr>
          <a:xfrm>
            <a:off x="457200" y="1371600"/>
            <a:ext cx="1874520" cy="2194560"/>
          </a:xfrm>
          <a:prstGeom prst="roundRect">
            <a:avLst>
              <a:gd name="adj" fmla="val 4878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554480"/>
            <a:ext cx="502920" cy="50292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94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Recibe el código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606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lo da tu gerente: es tu </a:t>
            </a:r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invitación</a:t>
            </a:r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Flecha"/>
          <p:cNvSpPr/>
          <p:nvPr/>
        </p:nvSpPr>
        <p:spPr>
          <a:xfrm>
            <a:off x="2359152" y="2377440"/>
            <a:ext cx="173736" cy="201168"/>
          </a:xfrm>
          <a:prstGeom prst="rightArrow">
            <a:avLst/>
          </a:prstGeom>
          <a:solidFill>
            <a:srgbClr val="B8904F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8" name="Etapa 2"/>
          <p:cNvSpPr/>
          <p:nvPr/>
        </p:nvSpPr>
        <p:spPr>
          <a:xfrm>
            <a:off x="2560320" y="1371600"/>
            <a:ext cx="1874520" cy="2194560"/>
          </a:xfrm>
          <a:prstGeom prst="roundRect">
            <a:avLst>
              <a:gd name="adj" fmla="val 4878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554480"/>
            <a:ext cx="502920" cy="50292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194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606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</a:t>
            </a:r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correo</a:t>
            </a:r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que se envió la invitación.</a:t>
            </a:r>
            <a:endParaRPr lang="en-US" sz="1300" dirty="0"/>
          </a:p>
        </p:txBody>
      </p:sp>
      <p:sp>
        <p:nvSpPr>
          <p:cNvPr id="12" name="Flecha"/>
          <p:cNvSpPr/>
          <p:nvPr/>
        </p:nvSpPr>
        <p:spPr>
          <a:xfrm>
            <a:off x="4462272" y="2377440"/>
            <a:ext cx="173736" cy="201168"/>
          </a:xfrm>
          <a:prstGeom prst="rightArrow">
            <a:avLst/>
          </a:prstGeom>
          <a:solidFill>
            <a:srgbClr val="B8904F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13" name="Etapa 3"/>
          <p:cNvSpPr/>
          <p:nvPr/>
        </p:nvSpPr>
        <p:spPr>
          <a:xfrm>
            <a:off x="4663440" y="1371600"/>
            <a:ext cx="1874520" cy="2194560"/>
          </a:xfrm>
          <a:prstGeom prst="roundRect">
            <a:avLst>
              <a:gd name="adj" fmla="val 4878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49240" y="1554480"/>
            <a:ext cx="502920" cy="50292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194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 el código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606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campo </a:t>
            </a:r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invitación</a:t>
            </a:r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Flecha"/>
          <p:cNvSpPr/>
          <p:nvPr/>
        </p:nvSpPr>
        <p:spPr>
          <a:xfrm>
            <a:off x="6565392" y="2377440"/>
            <a:ext cx="173736" cy="201168"/>
          </a:xfrm>
          <a:prstGeom prst="rightArrow">
            <a:avLst/>
          </a:prstGeom>
          <a:solidFill>
            <a:srgbClr val="B8904F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18" name="Etapa 4"/>
          <p:cNvSpPr/>
          <p:nvPr/>
        </p:nvSpPr>
        <p:spPr>
          <a:xfrm>
            <a:off x="6766560" y="1371600"/>
            <a:ext cx="1874520" cy="2194560"/>
          </a:xfrm>
          <a:prstGeom prst="roundRect">
            <a:avLst>
              <a:gd name="adj" fmla="val 4878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52360" y="1554480"/>
            <a:ext cx="502920" cy="50292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194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Canjea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606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Canjear invitación</a:t>
            </a:r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verás «¡Te has unido a…!».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llega un enlace de invitación, ábrelo con la sesión iniciada: se canjea solo.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pantalla principal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lateral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logo y organización, tu sesión,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 ingrediente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Recetas, Menús, Clientes y Facturas.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gerente ve además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App / Gerente.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¿Varias organizaciones? Elige en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activa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¿No ves un cambio de rol? Pulsa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Recargar permisos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4" name="Captura 10" descr="Pantalla principal del chef con la barra later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4006" y="1005840"/>
            <a:ext cx="2816548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Recetas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Escandallos, costes, alérgenos e inteligencia artificial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Crear una receta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plato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las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Raciones base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 si ya es por ración).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recetas se guardan siempre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 ración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1" name="Captura 12" descr="Receta nueva: nombre, categoría, tipo de plato y raciones 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83791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Añadir ingredientes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ingrediente en la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fila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tabla.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la coincidencia del inventario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la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compra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(bruta) y revisa la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merma (%) da la cantidad neta; el coste va sobre la bruta.</a:t>
            </a:r>
            <a:endParaRPr lang="en-US" sz="1400" dirty="0"/>
          </a:p>
        </p:txBody>
      </p:sp>
      <p:pic>
        <p:nvPicPr>
          <p:cNvPr id="11" name="Captura 17b" descr="Tabla de ingredientes con cantidades y unida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ficha de ingrediente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una fila en la columna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en la barra lateral merma, precio, cantidad y alérgenos.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fila de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de esta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0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1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 inventario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 un ingrediente privado: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12" name="Captura 14" descr="Ficha de ingrediente en la barra later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15023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Coste, PVP y Food Cost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0,38 €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051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por ración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4173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× precio de cada ingrediente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0,60 €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2240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PVP por ración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+ indirectos + margen + IVA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290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69,9 %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Cost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794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÷ precio de venta sin IVA</a:t>
            </a:r>
            <a:endParaRPr lang="en-US" sz="1300" dirty="0"/>
          </a:p>
        </p:txBody>
      </p:sp>
      <p:pic>
        <p:nvPicPr>
          <p:cNvPr id="12" name="Captura 15" descr="Coste por ración, PVP por ración y Food Co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31257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Parámetros avanzados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avanzados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Costes Indirectos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Beneficio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Evento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PVP y el Food Cost se recalculan al momento.</a:t>
            </a:r>
            <a:endParaRPr lang="en-US" sz="1400" dirty="0"/>
          </a:p>
        </p:txBody>
      </p:sp>
      <p:pic>
        <p:nvPicPr>
          <p:cNvPr id="9" name="Captura 18" descr="Parámetros avanzados abier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6251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Ajustar la receta a 1 ración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las cantidades de la receta original.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Raciones base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(por ejemplo, 4).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aviso: las cantidades se dividirán entre 4.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ajuste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1" name="Captura 21" descr="Aviso de ajuste de raciones base (Confirmar ajuste / Cancelar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90482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Alérgenos de la receta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Alérgenos detectados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reúne los de todos los ingredientes.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actualiza, pulsa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Refrescar alérgenos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rojo = hay ingredientes privados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revisar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4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5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6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ayuda, pero la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 final es del establecimiento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Revisa las etiquetas.</a:t>
            </a:r>
            <a:endParaRPr lang="en-US" sz="1200" dirty="0"/>
          </a:p>
        </p:txBody>
      </p:sp>
      <p:pic>
        <p:nvPicPr>
          <p:cNvPr id="7" name="Captura 16" descr="Bloque «Alérgenos detectados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3535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IA: receta a partir de un texto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IA: Generar receta con IA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pestaña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64592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591056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 la receta con cantidades en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para analizar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1762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121408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texto con IA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706624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651760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cada fila: ingrediente, cantidad y unidad.</a:t>
            </a:r>
            <a:endParaRPr lang="en-US" sz="1400" dirty="0"/>
          </a:p>
        </p:txBody>
      </p:sp>
      <p:sp>
        <p:nvSpPr>
          <p:cNvPr id="11" name="Paso 5"/>
          <p:cNvSpPr txBox="1"/>
          <p:nvPr/>
        </p:nvSpPr>
        <p:spPr>
          <a:xfrm>
            <a:off x="457200" y="32369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Texto paso 5"/>
          <p:cNvSpPr txBox="1"/>
          <p:nvPr/>
        </p:nvSpPr>
        <p:spPr>
          <a:xfrm>
            <a:off x="896112" y="3182112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las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Raciones base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 era para varias.</a:t>
            </a:r>
            <a:endParaRPr lang="en-US" sz="1400" dirty="0"/>
          </a:p>
        </p:txBody>
      </p:sp>
      <p:pic>
        <p:nvPicPr>
          <p:cNvPr id="13" name="Captura 17" descr="IA con texto: receta escrita antes de analiz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27086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4" name="Captura 13" descr="Ingredientes rellenados por la IA a partir del tex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3120" y="2459581"/>
            <a:ext cx="1798320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IA: receta a partir de una foto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IA: Generar receta con IA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pestaña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la foto (JPG o PNG) de la receta, factura o albarán.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Escanear imagen con IA Vision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ingredientes rellenados.</a:t>
            </a:r>
            <a:endParaRPr lang="en-US" sz="1400" dirty="0"/>
          </a:p>
        </p:txBody>
      </p:sp>
      <p:pic>
        <p:nvPicPr>
          <p:cNvPr id="11" name="Captura 17c" descr="IA con imagen: foto de una receta subida, antes de esc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19761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2" name="Captura 17d" descr="IA con imagen: ingredientes rellenados tras «Escanear imagen con IA Vision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1381" y="2386330"/>
            <a:ext cx="2501798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Elaboración y guardar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y observaciones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escribe los pasos.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recibe un código (REC-0023).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guarda cambios en la receta cargada.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 una variante con otro código.</a:t>
            </a:r>
            <a:endParaRPr lang="en-US" sz="1400" dirty="0"/>
          </a:p>
        </p:txBody>
      </p:sp>
      <p:pic>
        <p:nvPicPr>
          <p:cNvPr id="11" name="Captura 19" descr="Elaboración y observaciones, y botones de guar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28143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Recetas guardadas y ficha técnica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la receta en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guardadas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ficha Excel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la ficha técnica.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Borrar: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escribe ELIMINAR.</a:t>
            </a:r>
            <a:endParaRPr lang="en-US" sz="1400" dirty="0"/>
          </a:p>
        </p:txBody>
      </p:sp>
      <p:pic>
        <p:nvPicPr>
          <p:cNvPr id="11" name="Captura 20" descr="Recetas guardadas con el selector despleg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3873" y="1005840"/>
            <a:ext cx="3376815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ficha técnica en Excel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ingrediente: código, cantidad bruta,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cantidad neta, precio y coste.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final: costes indirectos, beneficio, IVA y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ración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4" name="Captura 22b" descr="Ficha técnica abierta en Exc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5108" y="1874520"/>
            <a:ext cx="6773783" cy="2788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Recetas compartidas con mi organización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receta compartida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y copiar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la vista previa (sin precios de origen).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Copiar a mi organización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precios y PVP: los márgenes no se copian.</a:t>
            </a:r>
            <a:endParaRPr lang="en-US" sz="1400" dirty="0"/>
          </a:p>
        </p:txBody>
      </p:sp>
      <p:sp>
        <p:nvSpPr>
          <p:cNvPr id="12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3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4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ingredientes privados copiados llegan con alérgenos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 de revisión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15" name="Captura 23" descr="Recetas compartidas con mi organización y su vista prev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2575" y="1005840"/>
            <a:ext cx="3559409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Menús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recetas, consulta alérgenos y descarga fichas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Crear un menú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nombre,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Pax de referencia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receta,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receta al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 con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Quitar del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quitar.</a:t>
            </a:r>
            <a:endParaRPr lang="en-US" sz="1400" dirty="0"/>
          </a:p>
        </p:txBody>
      </p:sp>
      <p:pic>
        <p:nvPicPr>
          <p:cNvPr id="11" name="Captura 30" descr="Menú con recetas añadidas y acciones por pl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1312" y="1005840"/>
            <a:ext cx="2881937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Alérgenos, fichas y guardar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Alérgenos del menú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los de todas sus recetas.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fichas técnicas del menú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Excel.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menú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menú seleccionado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menú seleccionado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Limpiar menú actual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vacía la pantalla, no borra nada.</a:t>
            </a:r>
            <a:endParaRPr lang="en-US" sz="1400" dirty="0"/>
          </a:p>
        </p:txBody>
      </p:sp>
      <p:pic>
        <p:nvPicPr>
          <p:cNvPr id="4" name="Captura 31" descr="Alérgenos del menú, descarga de fichas y botones de guar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13293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Abrir un menú guardado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Menús guardados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el menú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Borrar: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escribe ELIMINAR.</a:t>
            </a:r>
            <a:endParaRPr lang="en-US" sz="1400" dirty="0"/>
          </a:p>
        </p:txBody>
      </p:sp>
      <p:pic>
        <p:nvPicPr>
          <p:cNvPr id="9" name="Captura 33" descr="Cargar un menú guard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5407" y="1005840"/>
            <a:ext cx="3633746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fichas que usarás en presupuestos y facturas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Crear un cliente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cliente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Rellena nombre, NIF/CIF, contacto y dirección.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cliente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0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1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nombre fiscal, NIF/CIF y dirección: salen en los documentos.</a:t>
            </a:r>
            <a:endParaRPr lang="en-US" sz="1200" dirty="0"/>
          </a:p>
        </p:txBody>
      </p:sp>
      <p:pic>
        <p:nvPicPr>
          <p:cNvPr id="12" name="Captura 41" descr="Formulario «Nuevo cliente» relle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5735" y="1005840"/>
            <a:ext cx="2833090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Editar un cliente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cliente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guardados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el cliente y cambia sus datos.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cliente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9" name="Captura 40" descr="Editar cliente: selector de clientes guard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6403" y="1005840"/>
            <a:ext cx="3011754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Presupuestos y facturas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borrador al documento emitido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funciona un documento</a:t>
            </a:r>
            <a:endParaRPr lang="en-US" sz="2600" dirty="0"/>
          </a:p>
        </p:txBody>
      </p:sp>
      <p:sp>
        <p:nvSpPr>
          <p:cNvPr id="3" name="Estado Borrador"/>
          <p:cNvSpPr/>
          <p:nvPr/>
        </p:nvSpPr>
        <p:spPr>
          <a:xfrm>
            <a:off x="457200" y="1097280"/>
            <a:ext cx="2560320" cy="1325880"/>
          </a:xfrm>
          <a:prstGeom prst="roundRect">
            <a:avLst>
              <a:gd name="adj" fmla="val 6897"/>
            </a:avLst>
          </a:prstGeom>
          <a:solidFill>
            <a:srgbClr val="F7F1E6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Borrador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27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Editable, sin número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93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y gerente</a:t>
            </a:r>
            <a:endParaRPr lang="en-US" sz="1200" dirty="0"/>
          </a:p>
        </p:txBody>
      </p:sp>
      <p:sp>
        <p:nvSpPr>
          <p:cNvPr id="7" name="Flecha"/>
          <p:cNvSpPr/>
          <p:nvPr/>
        </p:nvSpPr>
        <p:spPr>
          <a:xfrm>
            <a:off x="3044952" y="1645920"/>
            <a:ext cx="219456" cy="237744"/>
          </a:xfrm>
          <a:prstGeom prst="rightArrow">
            <a:avLst/>
          </a:prstGeom>
          <a:solidFill>
            <a:srgbClr val="B8904F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8" name="Estado Emitido"/>
          <p:cNvSpPr/>
          <p:nvPr/>
        </p:nvSpPr>
        <p:spPr>
          <a:xfrm>
            <a:off x="3291840" y="1097280"/>
            <a:ext cx="2560320" cy="1325880"/>
          </a:xfrm>
          <a:prstGeom prst="roundRect">
            <a:avLst>
              <a:gd name="adj" fmla="val 6897"/>
            </a:avLst>
          </a:prstGeom>
          <a:solidFill>
            <a:srgbClr val="5C3A21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Emitido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27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definitivo, no editable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993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1200" dirty="0"/>
          </a:p>
        </p:txBody>
      </p:sp>
      <p:sp>
        <p:nvSpPr>
          <p:cNvPr id="12" name="Flecha"/>
          <p:cNvSpPr/>
          <p:nvPr/>
        </p:nvSpPr>
        <p:spPr>
          <a:xfrm>
            <a:off x="5879592" y="1645920"/>
            <a:ext cx="219456" cy="237744"/>
          </a:xfrm>
          <a:prstGeom prst="rightArrow">
            <a:avLst/>
          </a:prstGeom>
          <a:solidFill>
            <a:srgbClr val="B8904F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13" name="Estado Cobrado / Anulado"/>
          <p:cNvSpPr/>
          <p:nvPr/>
        </p:nvSpPr>
        <p:spPr>
          <a:xfrm>
            <a:off x="6126480" y="1097280"/>
            <a:ext cx="2560320" cy="1325880"/>
          </a:xfrm>
          <a:prstGeom prst="roundRect">
            <a:avLst>
              <a:gd name="adj" fmla="val 6897"/>
            </a:avLst>
          </a:prstGeom>
          <a:solidFill>
            <a:srgbClr val="5C3A21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Cobrado / Anulado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1627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del recorrido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1993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971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PRE-2026-0001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2971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FAC-2026-0001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Rectificativa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2971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REC-2026-0001</a:t>
            </a:r>
            <a:endParaRPr lang="en-US" sz="2000" dirty="0"/>
          </a:p>
        </p:txBody>
      </p:sp>
      <p:sp>
        <p:nvSpPr>
          <p:cNvPr id="23" name="Aviso"/>
          <p:cNvSpPr/>
          <p:nvPr/>
        </p:nvSpPr>
        <p:spPr>
          <a:xfrm>
            <a:off x="457200" y="37033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24" name="Icono aviso"/>
          <p:cNvSpPr txBox="1"/>
          <p:nvPr/>
        </p:nvSpPr>
        <p:spPr>
          <a:xfrm>
            <a:off x="594360" y="391363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25" name="Texto aviso"/>
          <p:cNvSpPr txBox="1"/>
          <p:nvPr/>
        </p:nvSpPr>
        <p:spPr>
          <a:xfrm>
            <a:off x="1024128" y="3703320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 emitida: no se edita ni se anula →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rectificativa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La app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certificada VERI*FACTU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Documentos guardados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documento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abrirlo para ver o seguir editando.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documento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nuevo borrador a partir de él.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factura desde presupuesto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borrador de factura con sus menús.</a:t>
            </a:r>
            <a:endParaRPr lang="en-US" sz="1400" dirty="0"/>
          </a:p>
        </p:txBody>
      </p:sp>
      <p:pic>
        <p:nvPicPr>
          <p:cNvPr id="4" name="Captura 60" descr="Documentos guardados (Cargar / Duplicar / Crear factura desde presupuest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50427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Crear un borrador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documento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64592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591056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fechas, pago, retención 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1762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121408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706624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651760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 menú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Paso 5"/>
          <p:cNvSpPr txBox="1"/>
          <p:nvPr/>
        </p:nvSpPr>
        <p:spPr>
          <a:xfrm>
            <a:off x="457200" y="32369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Texto paso 5"/>
          <p:cNvSpPr txBox="1"/>
          <p:nvPr/>
        </p:nvSpPr>
        <p:spPr>
          <a:xfrm>
            <a:off x="896112" y="3182112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borrador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3" name="Captura 61" descr="Presupuesto en borrador con un menú aña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81362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eres chef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Preparas y guardas el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igual que el gerente.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verás: «Solo el gerente puede emitir el documento».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 a tu gerente cuando el borrador esté listo.</a:t>
            </a:r>
            <a:endParaRPr lang="en-US" sz="1400" dirty="0"/>
          </a:p>
        </p:txBody>
      </p:sp>
      <p:pic>
        <p:nvPicPr>
          <p:cNvPr id="4" name="Captura 50" descr="Borrador de presupuesto creado por el chef (sin númer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65723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5" name="Captura 51" descr="El chef ve «Solo el gerente puede emitir el documento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845958"/>
            <a:ext cx="3749040" cy="99434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Emitir un documento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Rellena antes los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fiscales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organización.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el borrador guardado y revísalo.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documento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Verás el número asignado (PRE-2026-0001).</a:t>
            </a:r>
            <a:endParaRPr lang="en-US" sz="1400" dirty="0"/>
          </a:p>
        </p:txBody>
      </p:sp>
      <p:sp>
        <p:nvSpPr>
          <p:cNvPr id="12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3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4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deshacer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15" name="Captura 62a" descr="Botón «Emitir documento» en un borrador guard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32319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6" name="Captura 62" descr="Mensaje tras emitir (PRE-2026-0001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511911"/>
            <a:ext cx="3749040" cy="88212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 emitido y PDF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documento emitido está en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lectura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PDF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usa los datos guardados al emitir.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lleva los datos fiscales y el logo de tu organización.</a:t>
            </a:r>
            <a:endParaRPr lang="en-US" sz="1400" dirty="0"/>
          </a:p>
        </p:txBody>
      </p:sp>
      <p:pic>
        <p:nvPicPr>
          <p:cNvPr id="4" name="Captura 63" descr="Documento emitido: acciones disponib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30848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5" name="Captura 64" descr="PDF del presupuesto descarg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620" y="2497208"/>
            <a:ext cx="1763321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 y cobro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 presupuesto: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factura desde presupuesto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el borrador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documento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cobrar: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como cobrado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0" name="Captura 65" descr="Factura emitida (FAC-2026-0001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41140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1" name="Captura 66" descr="Factura en estado cobra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600123"/>
            <a:ext cx="3749040" cy="44106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Corregir una factura: rectificativa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la factura emitida.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rectificativa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«Factura rectificativa» (fijo); corrige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borrador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documento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número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REC-AAAA-NNNN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2" name="Captura 67" descr="Borrador rectificativo: tipo «Factura rectificativa» y concep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86347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Anular un presupuesto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el presupuesto emitido.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presupuesto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confirma con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Sí, anular presupuesto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en estado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anulada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1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2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presupuestos. La anulación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deshacer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13" name="Captura 63" descr="Documento emitido: acciones disponib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30848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4" name="Captura 68" descr="Presupuesto anul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497208"/>
            <a:ext cx="3749040" cy="43130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 del gerente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Miembros, datos de la organización, inventario y compartir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página Gerente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elige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84708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79222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Pestañas: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Miembros e invitaciones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la organización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propio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recetas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57860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52374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volver, elige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0" name="Captura 70" descr="Navegación App / Gerente y página de gest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4006" y="1005840"/>
            <a:ext cx="2816548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Miembros e invitaciones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Invitaciones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email,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validez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invitación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el código ahora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 se vuelve a mostrar.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anula una invitación pendiente.</a:t>
            </a:r>
            <a:endParaRPr lang="en-US" sz="1400" dirty="0"/>
          </a:p>
        </p:txBody>
      </p:sp>
      <p:pic>
        <p:nvPicPr>
          <p:cNvPr id="12" name="Captura 72" descr="Generar una invitación (código oculto en la captur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06196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de la organización y logo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Rellena razón social,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NIF/CIF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dirección fiscal.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el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por defecto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datos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el logo (PNG, JPG o WEBP, máx. 300 KB).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logo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Quitar logo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400" dirty="0"/>
          </a:p>
        </p:txBody>
      </p:sp>
      <p:pic>
        <p:nvPicPr>
          <p:cNvPr id="12" name="Captura 74" descr="Subir y guardar el logoti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13664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Precios propios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propio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busca el ingrediente del catálogo.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Precio/unidad (€)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precio propio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recetas usarán tu precio.</a:t>
            </a:r>
            <a:endParaRPr lang="en-US" sz="1400" dirty="0"/>
          </a:p>
        </p:txBody>
      </p:sp>
      <p:pic>
        <p:nvPicPr>
          <p:cNvPr id="12" name="Captura 75" descr="Precio propio de un ingrediente del catá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6644" y="1005840"/>
            <a:ext cx="3411272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Ingredientes privados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ingrediente privado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descripción, familia y unidad.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declara sus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Alérgenos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marca «No contiene ninguno».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ingrediente privado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(código P-…).</a:t>
            </a:r>
            <a:endParaRPr lang="en-US" sz="1400" dirty="0"/>
          </a:p>
        </p:txBody>
      </p:sp>
      <p:sp>
        <p:nvSpPr>
          <p:cNvPr id="10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1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2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= alérgenos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 de revisión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Revísalos antes de usarlos.</a:t>
            </a:r>
            <a:endParaRPr lang="en-US" sz="1200" dirty="0"/>
          </a:p>
        </p:txBody>
      </p:sp>
      <p:pic>
        <p:nvPicPr>
          <p:cNvPr id="13" name="Captura 76" descr="Añadir un ingrediente privado con sus alérgen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5407" y="1005840"/>
            <a:ext cx="3633746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Compartir recetas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recetas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elige la receta.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el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una organización o todas.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Comparticiones activas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Desactivar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dejar de compartir.</a:t>
            </a:r>
            <a:endParaRPr lang="en-US" sz="1400" dirty="0"/>
          </a:p>
        </p:txBody>
      </p:sp>
      <p:pic>
        <p:nvPicPr>
          <p:cNvPr id="12" name="Captura 77" descr="Compartir una receta con otra organiz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9290" y="1005840"/>
            <a:ext cx="2405980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3" name="Captura 78" descr="Comparticiones activas de la organización (destino oculto en la captura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169" y="2926080"/>
            <a:ext cx="3308223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Preguntas frecuentes</a:t>
            </a:r>
            <a:endParaRPr lang="en-US" sz="2600" dirty="0"/>
          </a:p>
        </p:txBody>
      </p:sp>
      <p:sp>
        <p:nvSpPr>
          <p:cNvPr id="3" name="FAQ 1"/>
          <p:cNvSpPr/>
          <p:nvPr/>
        </p:nvSpPr>
        <p:spPr>
          <a:xfrm>
            <a:off x="45720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veo «Gerente»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08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 ven los gerentes. Prueba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Recargar permisos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FAQ 2"/>
          <p:cNvSpPr/>
          <p:nvPr/>
        </p:nvSpPr>
        <p:spPr>
          <a:xfrm>
            <a:off x="466344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puedo emitir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08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gerente, sobre un borrador guardado y con datos fiscales.</a:t>
            </a:r>
            <a:endParaRPr lang="en-US" sz="1300" dirty="0"/>
          </a:p>
        </p:txBody>
      </p:sp>
      <p:sp>
        <p:nvSpPr>
          <p:cNvPr id="9" name="FAQ 3"/>
          <p:cNvSpPr/>
          <p:nvPr/>
        </p:nvSpPr>
        <p:spPr>
          <a:xfrm>
            <a:off x="45720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en una factura emitida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97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una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rectificativa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FAQ 4"/>
          <p:cNvSpPr/>
          <p:nvPr/>
        </p:nvSpPr>
        <p:spPr>
          <a:xfrm>
            <a:off x="466344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PVP o Food Cost en «-»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97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 cantidades o precios en los ingredientes.</a:t>
            </a:r>
            <a:endParaRPr lang="en-US" sz="1300" dirty="0"/>
          </a:p>
        </p:txBody>
      </p:sp>
      <p:sp>
        <p:nvSpPr>
          <p:cNvPr id="15" name="FAQ 5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Perdí un código de invitación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886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 la invitación y genera otra.</a:t>
            </a:r>
            <a:endParaRPr lang="en-US" sz="1300" dirty="0"/>
          </a:p>
        </p:txBody>
      </p:sp>
      <p:sp>
        <p:nvSpPr>
          <p:cNvPr id="18" name="FAQ 6"/>
          <p:cNvSpPr/>
          <p:nvPr/>
        </p:nvSpPr>
        <p:spPr>
          <a:xfrm>
            <a:off x="466344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de alérgenos al copiar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886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gerente revisa los privados en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propio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Recuerda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50876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pPr indent="0" marL="0">
              <a:buNone/>
            </a:pPr>
            <a:r>
              <a:rPr lang="en-US" sz="1700" b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alérgenos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revisa siempre el establecimiento: etiquetas, ingredientes privados y recetas copiadas.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42316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documento </a:t>
            </a:r>
            <a:pPr indent="0" marL="0">
              <a:buNone/>
            </a:pPr>
            <a:r>
              <a:rPr lang="en-US" sz="1700" b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emitido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se modifica: las facturas se corrigen con </a:t>
            </a:r>
            <a:pPr indent="0" marL="0">
              <a:buNone/>
            </a:pPr>
            <a:r>
              <a:rPr lang="en-US" sz="1700" b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rectificativa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33756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facturación </a:t>
            </a:r>
            <a:pPr indent="0" marL="0">
              <a:buNone/>
            </a:pPr>
            <a:r>
              <a:rPr lang="en-US" sz="1700" b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certificada VERI*FACTU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consulta con tu gestoría.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Samirarte · Gestor de Escandallos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Samirarte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Gestor de Escandallos – Formación para Chef y Gerente</dc:title>
  <dc:subject>PptxGenJS Presentation</dc:subject>
  <dc:creator>Samirarte</dc:creator>
  <cp:lastModifiedBy>Samirarte</cp:lastModifiedBy>
  <cp:revision>1</cp:revision>
  <dcterms:created xsi:type="dcterms:W3CDTF">2026-10-24T07:03:51Z</dcterms:created>
  <dcterms:modified xsi:type="dcterms:W3CDTF">2026-10-24T07:03:51Z</dcterms:modified>
</cp:coreProperties>
</file>