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</p:sldIdLst>
  <p:notesMasterIdLst>
    <p:notesMasterId r:id="rId5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Portada" id="{f766bd96-d1ed-887f-e4ea-fe438ae2546a}">
          <p14:sldIdLst>
            <p14:sldId id="256"/>
          </p14:sldIdLst>
        </p14:section>
        <p14:section name="Introducción" id="{3c559c43-f6bf-8fdc-60c2-def4ecf5bc00}">
          <p14:sldIdLst>
            <p14:sldId id="257"/>
            <p14:sldId id="258"/>
            <p14:sldId id="259"/>
          </p14:sldIdLst>
        </p14:section>
        <p14:section name="Acceso" id="{fb0a54d0-1255-c029-9713-358539cea7df}">
          <p14:sldIdLst>
            <p14:sldId id="260"/>
            <p14:sldId id="261"/>
            <p14:sldId id="262"/>
            <p14:sldId id="263"/>
          </p14:sldIdLst>
        </p14:section>
        <p14:section name="Recetas" id="{5e868427-5415-7c06-928e-5b84f2ee50c4}">
          <p14:sldIdLst>
            <p14:sldId id="264"/>
            <p14:sldId id="265"/>
            <p14:sldId id="266"/>
            <p14:sldId id="267"/>
            <p14:sldId id="268"/>
            <p14:sldId id="269"/>
            <p14:sldId id="270"/>
            <p14:sldId id="271"/>
            <p14:sldId id="272"/>
            <p14:sldId id="273"/>
            <p14:sldId id="274"/>
            <p14:sldId id="275"/>
            <p14:sldId id="276"/>
            <p14:sldId id="277"/>
            <p14:sldId id="278"/>
          </p14:sldIdLst>
        </p14:section>
        <p14:section name="Menús" id="{f3dd0e69-f3bb-2c6d-40a8-bbc794bb56b1}">
          <p14:sldIdLst>
            <p14:sldId id="279"/>
            <p14:sldId id="280"/>
            <p14:sldId id="281"/>
            <p14:sldId id="282"/>
          </p14:sldIdLst>
        </p14:section>
        <p14:section name="Clientes" id="{d4bd3152-8b27-716d-3f10-e3b8a91c1dcc}">
          <p14:sldIdLst>
            <p14:sldId id="283"/>
            <p14:sldId id="284"/>
            <p14:sldId id="285"/>
          </p14:sldIdLst>
        </p14:section>
        <p14:section name="Presupuestos y facturas" id="{03096fee-3149-2118-bc41-12b24a0289c9}">
          <p14:sldIdLst>
            <p14:sldId id="286"/>
            <p14:sldId id="287"/>
            <p14:sldId id="288"/>
            <p14:sldId id="289"/>
            <p14:sldId id="290"/>
            <p14:sldId id="291"/>
            <p14:sldId id="292"/>
            <p14:sldId id="293"/>
            <p14:sldId id="294"/>
            <p14:sldId id="295"/>
          </p14:sldIdLst>
        </p14:section>
        <p14:section name="Funciones del gerente" id="{8e8f8c53-b743-287b-07a8-08a3cd4b3ed0}">
          <p14:sldIdLst>
            <p14:sldId id="296"/>
            <p14:sldId id="297"/>
            <p14:sldId id="298"/>
            <p14:sldId id="299"/>
            <p14:sldId id="300"/>
            <p14:sldId id="301"/>
            <p14:sldId id="302"/>
            <p14:sldId id="303"/>
            <p14:sldId id="304"/>
            <p14:sldId id="305"/>
          </p14:sldIdLst>
        </p14:section>
        <p14:section name="Cierre" id="{f7b4e2a8-4ac3-fffe-e2a6-78698fb4d87c}">
          <p14:sldIdLst>
            <p14:sldId id="306"/>
            <p14:sldId id="30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notesMaster" Target="notesMasters/notesMaster1.xml"/><Relationship Id="rId55" Type="http://schemas.openxmlformats.org/officeDocument/2006/relationships/presProps" Target="presProps.xml"/><Relationship Id="rId56" Type="http://schemas.openxmlformats.org/officeDocument/2006/relationships/viewProps" Target="viewProps.xml"/><Relationship Id="rId57" Type="http://schemas.openxmlformats.org/officeDocument/2006/relationships/theme" Target="theme/theme1.xml"/><Relationship Id="rId5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Bienvenida. Este curso recorre la app de principio a fin con la organización de ejemplo «Demo» (datos inventados).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Orden del curso. Cada bloque tiene pasos y una captura. Lo marcado como «Solo gerente» no lo puede hacer el chef.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Explica que la propiedad es de la organización. El gerente es quien emite documentos y gestiona la organización.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Estos dos avisos son obligatorios en cualquier formación. Alérgenos = seguridad alimentaria.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Desde el correo de recuperación se llega a «Nueva contraseña» / «Repite la contraseña» / «Guardar contraseña». «Continuar como invitado» es solo para probar: no guarda cambios.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Este paso solo aparece si el usuario aún no pertenece a ninguna organización.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Cerrar sesión siempre en ordenadores compartidos. Al cambiar de organización activa se limpia el documento abierto en Facturas: guardar antes.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«Limpiar todos» vacía la receta en pantalla, con confirmación. No borra el inventario ni la versión guardada.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Ejemplo de las croquetas: coste 0,38 €; con 10 % de costes indirectos y 30 % de margen, PVP sin IVA ≈ 0,54 €; con 10 % de IVA, 0,60 €. Food Cost = 0,38 / 0,54 = 69,9 %. Si sale «-», faltan cantidades o precios.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margen se aplica sobre el coste y puede superar el 100 %: coste 10 € con margen 150 % = PVP sin IVA 25 €.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IA puede equivocarse o dejar filas sin cantidad (en el ejemplo, sal y pimienta). Revisar siempre antes de guardar.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gerente ve además el botón «Compartir» junto a «Cargar receta».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 descarga con «Descargar ficha Excel». Un precio de 0,00 € en la ficha indica un ingrediente sin precio: revisarlo antes de dar el coste por bueno.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Cada receta tiene un propietario: el chef que la creó. Para modificar la original hay que pedir al gerente permiso de edición.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chef ve la lista de recetas compartidas, pero solo el gerente puede copiarlas. La copia es independiente de la receta original.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Tipos de menú: Cóctel, Buffet, Menú sentado, Catering y Otro. El pax es informativo: no cambia las raciones.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 menú usado en presupuestos o facturas no se puede eliminar. Las recetas nunca se borran al eliminar un menú.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Ejemplo con datos inventados: Eventos Mediterráneo S.L.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Eliminar cliente pide escribir ELIMINAR. No eliminar clientes con documentos asociados.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Numeración anual por organización y tipo: PRE-AAAA-NNNN, FAC-AAAA-NNNN, REC-AAAA-NNNN. Un presupuesto emitido sí puede anularse.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Por ahora no se pueden eliminar documentos desde la app.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IVA viene por defecto de la organización. «Quitar último menú» y «Limpiar documento» para corregir. El número se asigna al emitir.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 la pestaña Miembros se ve cada persona con su rol y estado; «Desactivar» le quita el acceso. En la captura, el código está oculto a propósito.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Cada chef ve y edita solo sus recetas; el gerente ve y edita todas. Si el gerente edita la receta de un chef, sigue siendo de ese chef. En las capturas, los correos son de ejemplo.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Las recetas sin propietario solo las ve el gerente, salvo que estén en un menú. Tras cada acción, la pantalla se queda en el apartado en el que estabas.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Sin razón social, NIF/CIF y dirección no se puede emitir. El logo sale en la cabecera de la app y en los documentos.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 ingrediente privado en uso no se puede eliminar. Los que llegan al copiar recetas compartidas quedan pendientes de revisión.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Las otras organizaciones ven una vista previa sin precios y pueden hacer una copia independiente. En la captura 78 se ha ocultado el destino.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ORTADA">
    <p:bg>
      <p:bgPr>
        <a:solidFill>
          <a:srgbClr val="3B24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CION">
    <p:bg>
      <p:bgPr>
        <a:solidFill>
          <a:srgbClr val="5C3A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40080" y="1188720"/>
            <a:ext cx="274320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7200" b="1" dirty="0">
                <a:solidFill>
                  <a:srgbClr val="E8CD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7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2514600"/>
            <a:ext cx="786384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40080" y="3337560"/>
            <a:ext cx="786384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dirty="0">
                <a:solidFill>
                  <a:srgbClr val="E8CD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16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IDO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6583680" cy="5943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600" b="1" dirty="0">
                <a:solidFill>
                  <a:srgbClr val="5C3A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3" name="Text 0"/>
          <p:cNvSpPr/>
          <p:nvPr/>
        </p:nvSpPr>
        <p:spPr>
          <a:xfrm>
            <a:off x="457200" y="480060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Gestor de Escandallos · Formación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B6B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B6B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image" Target="../media/image-35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png"/><Relationship Id="rId2" Type="http://schemas.openxmlformats.org/officeDocument/2006/relationships/image" Target="../media/image-36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png"/><Relationship Id="rId2" Type="http://schemas.openxmlformats.org/officeDocument/2006/relationships/image" Target="../media/image-37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8-1.png"/><Relationship Id="rId2" Type="http://schemas.openxmlformats.org/officeDocument/2006/relationships/image" Target="../media/image-38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9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0-1.png"/><Relationship Id="rId2" Type="http://schemas.openxmlformats.org/officeDocument/2006/relationships/image" Target="../media/image-40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2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3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4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5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6-1.png"/><Relationship Id="rId2" Type="http://schemas.openxmlformats.org/officeDocument/2006/relationships/image" Target="../media/image-46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7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8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9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0-1.png"/><Relationship Id="rId2" Type="http://schemas.openxmlformats.org/officeDocument/2006/relationships/image" Target="../media/image-50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Logo" descr="Logotipo de Samirart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914400"/>
            <a:ext cx="2377440" cy="237744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3291840" y="1325880"/>
            <a:ext cx="5486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Gestor de Escandallos</a:t>
            </a:r>
            <a:endParaRPr lang="en-US" sz="4000" dirty="0"/>
          </a:p>
        </p:txBody>
      </p:sp>
      <p:sp>
        <p:nvSpPr>
          <p:cNvPr id="4" name="Text 1"/>
          <p:cNvSpPr txBox="1"/>
          <p:nvPr/>
        </p:nvSpPr>
        <p:spPr>
          <a:xfrm>
            <a:off x="3291840" y="214884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i="1" dirty="0">
                <a:solidFill>
                  <a:srgbClr val="E8CD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Formación para Chef y Gerente</a:t>
            </a:r>
            <a:endParaRPr lang="en-US" sz="2200" dirty="0"/>
          </a:p>
        </p:txBody>
      </p:sp>
      <p:sp>
        <p:nvSpPr>
          <p:cNvPr id="5" name="Text 2"/>
          <p:cNvSpPr txBox="1"/>
          <p:nvPr/>
        </p:nvSpPr>
        <p:spPr>
          <a:xfrm>
            <a:off x="3291840" y="28346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8CD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Samirarte · Versión 1.0 · Octubre de 2026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6583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C3A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Qué vamos a ver</a:t>
            </a:r>
            <a:endParaRPr lang="en-US" sz="2600" dirty="0"/>
          </a:p>
        </p:txBody>
      </p:sp>
      <p:sp>
        <p:nvSpPr>
          <p:cNvPr id="3" name="Tarjeta Acceso"/>
          <p:cNvSpPr/>
          <p:nvPr/>
        </p:nvSpPr>
        <p:spPr>
          <a:xfrm>
            <a:off x="457200" y="1143000"/>
            <a:ext cx="2606040" cy="1554480"/>
          </a:xfrm>
          <a:prstGeom prst="roundRect">
            <a:avLst>
              <a:gd name="adj" fmla="val 5882"/>
            </a:avLst>
          </a:prstGeom>
          <a:solidFill>
            <a:srgbClr val="F7F1E6"/>
          </a:solidFill>
          <a:ln w="12700">
            <a:solidFill>
              <a:srgbClr val="E8CD9A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1325880"/>
            <a:ext cx="457200" cy="457200"/>
          </a:xfrm>
          <a:prstGeom prst="ellipse">
            <a:avLst/>
          </a:prstGeom>
          <a:solidFill>
            <a:srgbClr val="B8904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1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1234440" y="132588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5C3A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Acceso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92024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Entrar, contraseña, invitación, organización</a:t>
            </a:r>
            <a:endParaRPr lang="en-US" sz="1300" dirty="0"/>
          </a:p>
        </p:txBody>
      </p:sp>
      <p:sp>
        <p:nvSpPr>
          <p:cNvPr id="7" name="Tarjeta Recetas"/>
          <p:cNvSpPr/>
          <p:nvPr/>
        </p:nvSpPr>
        <p:spPr>
          <a:xfrm>
            <a:off x="3246120" y="1143000"/>
            <a:ext cx="2606040" cy="1554480"/>
          </a:xfrm>
          <a:prstGeom prst="roundRect">
            <a:avLst>
              <a:gd name="adj" fmla="val 5882"/>
            </a:avLst>
          </a:prstGeom>
          <a:solidFill>
            <a:srgbClr val="F7F1E6"/>
          </a:solidFill>
          <a:ln w="12700">
            <a:solidFill>
              <a:srgbClr val="E8CD9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429000" y="1325880"/>
            <a:ext cx="457200" cy="457200"/>
          </a:xfrm>
          <a:prstGeom prst="ellipse">
            <a:avLst/>
          </a:prstGeom>
          <a:solidFill>
            <a:srgbClr val="B8904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2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4023360" y="132588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5C3A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Recetas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3429000" y="192024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Ingredientes, costes, alérgenos, IA</a:t>
            </a:r>
            <a:endParaRPr lang="en-US" sz="1300" dirty="0"/>
          </a:p>
        </p:txBody>
      </p:sp>
      <p:sp>
        <p:nvSpPr>
          <p:cNvPr id="11" name="Tarjeta Menús"/>
          <p:cNvSpPr/>
          <p:nvPr/>
        </p:nvSpPr>
        <p:spPr>
          <a:xfrm>
            <a:off x="6035040" y="1143000"/>
            <a:ext cx="2606040" cy="1554480"/>
          </a:xfrm>
          <a:prstGeom prst="roundRect">
            <a:avLst>
              <a:gd name="adj" fmla="val 5882"/>
            </a:avLst>
          </a:prstGeom>
          <a:solidFill>
            <a:srgbClr val="F7F1E6"/>
          </a:solidFill>
          <a:ln w="12700">
            <a:solidFill>
              <a:srgbClr val="E8CD9A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217920" y="1325880"/>
            <a:ext cx="457200" cy="457200"/>
          </a:xfrm>
          <a:prstGeom prst="ellipse">
            <a:avLst/>
          </a:prstGeom>
          <a:solidFill>
            <a:srgbClr val="B8904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3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6812280" y="132588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5C3A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Menús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6217920" y="192024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Combinar recetas y fichas técnicas</a:t>
            </a:r>
            <a:endParaRPr lang="en-US" sz="1300" dirty="0"/>
          </a:p>
        </p:txBody>
      </p:sp>
      <p:sp>
        <p:nvSpPr>
          <p:cNvPr id="15" name="Tarjeta Clientes"/>
          <p:cNvSpPr/>
          <p:nvPr/>
        </p:nvSpPr>
        <p:spPr>
          <a:xfrm>
            <a:off x="457200" y="2926080"/>
            <a:ext cx="2606040" cy="1554480"/>
          </a:xfrm>
          <a:prstGeom prst="roundRect">
            <a:avLst>
              <a:gd name="adj" fmla="val 5882"/>
            </a:avLst>
          </a:prstGeom>
          <a:solidFill>
            <a:srgbClr val="F7F1E6"/>
          </a:solidFill>
          <a:ln w="12700">
            <a:solidFill>
              <a:srgbClr val="E8CD9A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0080" y="3108960"/>
            <a:ext cx="457200" cy="457200"/>
          </a:xfrm>
          <a:prstGeom prst="ellipse">
            <a:avLst/>
          </a:prstGeom>
          <a:solidFill>
            <a:srgbClr val="B8904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4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1234440" y="310896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5C3A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Clientes</a:t>
            </a:r>
            <a:endParaRPr lang="en-US" sz="2000" dirty="0"/>
          </a:p>
        </p:txBody>
      </p:sp>
      <p:sp>
        <p:nvSpPr>
          <p:cNvPr id="18" name="Text 16"/>
          <p:cNvSpPr txBox="1"/>
          <p:nvPr/>
        </p:nvSpPr>
        <p:spPr>
          <a:xfrm>
            <a:off x="640080" y="370332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Fichas para presupuestos y facturas</a:t>
            </a:r>
            <a:endParaRPr lang="en-US" sz="1300" dirty="0"/>
          </a:p>
        </p:txBody>
      </p:sp>
      <p:sp>
        <p:nvSpPr>
          <p:cNvPr id="19" name="Tarjeta Facturas"/>
          <p:cNvSpPr/>
          <p:nvPr/>
        </p:nvSpPr>
        <p:spPr>
          <a:xfrm>
            <a:off x="3246120" y="2926080"/>
            <a:ext cx="2606040" cy="1554480"/>
          </a:xfrm>
          <a:prstGeom prst="roundRect">
            <a:avLst>
              <a:gd name="adj" fmla="val 5882"/>
            </a:avLst>
          </a:prstGeom>
          <a:solidFill>
            <a:srgbClr val="F7F1E6"/>
          </a:solidFill>
          <a:ln w="12700">
            <a:solidFill>
              <a:srgbClr val="E8CD9A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3429000" y="3108960"/>
            <a:ext cx="457200" cy="457200"/>
          </a:xfrm>
          <a:prstGeom prst="ellipse">
            <a:avLst/>
          </a:prstGeom>
          <a:solidFill>
            <a:srgbClr val="B8904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5</a:t>
            </a:r>
            <a:endParaRPr lang="en-US" sz="1800" dirty="0"/>
          </a:p>
        </p:txBody>
      </p:sp>
      <p:sp>
        <p:nvSpPr>
          <p:cNvPr id="21" name="Text 19"/>
          <p:cNvSpPr txBox="1"/>
          <p:nvPr/>
        </p:nvSpPr>
        <p:spPr>
          <a:xfrm>
            <a:off x="4023360" y="310896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5C3A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Facturas</a:t>
            </a:r>
            <a:endParaRPr lang="en-US" sz="2000" dirty="0"/>
          </a:p>
        </p:txBody>
      </p:sp>
      <p:sp>
        <p:nvSpPr>
          <p:cNvPr id="22" name="Text 20"/>
          <p:cNvSpPr txBox="1"/>
          <p:nvPr/>
        </p:nvSpPr>
        <p:spPr>
          <a:xfrm>
            <a:off x="3429000" y="370332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Borrador, emitir, cobrar, rectificar</a:t>
            </a:r>
            <a:endParaRPr lang="en-US" sz="1300" dirty="0"/>
          </a:p>
        </p:txBody>
      </p:sp>
      <p:sp>
        <p:nvSpPr>
          <p:cNvPr id="23" name="Tarjeta Gerente"/>
          <p:cNvSpPr/>
          <p:nvPr/>
        </p:nvSpPr>
        <p:spPr>
          <a:xfrm>
            <a:off x="6035040" y="2926080"/>
            <a:ext cx="2606040" cy="1554480"/>
          </a:xfrm>
          <a:prstGeom prst="roundRect">
            <a:avLst>
              <a:gd name="adj" fmla="val 5882"/>
            </a:avLst>
          </a:prstGeom>
          <a:solidFill>
            <a:srgbClr val="F7F1E6"/>
          </a:solidFill>
          <a:ln w="12700">
            <a:solidFill>
              <a:srgbClr val="E8CD9A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217920" y="3108960"/>
            <a:ext cx="457200" cy="457200"/>
          </a:xfrm>
          <a:prstGeom prst="ellipse">
            <a:avLst/>
          </a:prstGeom>
          <a:solidFill>
            <a:srgbClr val="B8904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6</a:t>
            </a:r>
            <a:endParaRPr lang="en-US" sz="1800" dirty="0"/>
          </a:p>
        </p:txBody>
      </p:sp>
      <p:sp>
        <p:nvSpPr>
          <p:cNvPr id="25" name="Text 23"/>
          <p:cNvSpPr txBox="1"/>
          <p:nvPr/>
        </p:nvSpPr>
        <p:spPr>
          <a:xfrm>
            <a:off x="6812280" y="310896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5C3A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Gerente</a:t>
            </a:r>
            <a:endParaRPr lang="en-US" sz="2000" dirty="0"/>
          </a:p>
        </p:txBody>
      </p:sp>
      <p:sp>
        <p:nvSpPr>
          <p:cNvPr id="26" name="Text 24"/>
          <p:cNvSpPr txBox="1"/>
          <p:nvPr/>
        </p:nvSpPr>
        <p:spPr>
          <a:xfrm>
            <a:off x="6217920" y="370332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Miembros, datos, inventario, compartir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B6B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6583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C3A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Organizaciones y roles</a:t>
            </a:r>
            <a:endParaRPr lang="en-US" sz="2600" dirty="0"/>
          </a:p>
        </p:txBody>
      </p:sp>
      <p:sp>
        <p:nvSpPr>
          <p:cNvPr id="3" name="Puntos"/>
          <p:cNvSpPr txBox="1"/>
          <p:nvPr/>
        </p:nvSpPr>
        <p:spPr>
          <a:xfrm>
            <a:off x="457200" y="1097280"/>
            <a:ext cx="356616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200"/>
              </a:spcAft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empresa es una </a:t>
            </a:r>
            <a:pPr indent="0" marL="0">
              <a:spcAft>
                <a:spcPts val="1200"/>
              </a:spcAft>
              <a:buNone/>
            </a:pPr>
            <a:r>
              <a:rPr lang="en-US" sz="14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organización</a:t>
            </a:r>
            <a:pPr indent="0" marL="0">
              <a:spcAft>
                <a:spcPts val="1200"/>
              </a:spcAft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con sus datos separados.</a:t>
            </a:r>
            <a:endParaRPr lang="en-US" sz="14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Menús, clientes y documentos son de la </a:t>
            </a:r>
            <a:pPr indent="0" marL="0">
              <a:spcAft>
                <a:spcPts val="1200"/>
              </a:spcAft>
              <a:buNone/>
            </a:pPr>
            <a:r>
              <a:rPr lang="en-US" sz="14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organización</a:t>
            </a:r>
            <a:pPr indent="0" marL="0">
              <a:spcAft>
                <a:spcPts val="1200"/>
              </a:spcAft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todos los miembros los ven.</a:t>
            </a:r>
            <a:endParaRPr lang="en-US" sz="14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</a:t>
            </a:r>
            <a:pPr indent="0" marL="0">
              <a:spcAft>
                <a:spcPts val="1200"/>
              </a:spcAft>
              <a:buNone/>
            </a:pPr>
            <a:r>
              <a:rPr lang="en-US" sz="14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recetas</a:t>
            </a:r>
            <a:pPr indent="0" marL="0">
              <a:spcAft>
                <a:spcPts val="1200"/>
              </a:spcAft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son de cada chef; el gerente decide quién ve las de otros.</a:t>
            </a:r>
            <a:endParaRPr lang="en-US" sz="14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Hay dos roles: </a:t>
            </a:r>
            <a:pPr indent="0" marL="0">
              <a:spcAft>
                <a:spcPts val="1200"/>
              </a:spcAft>
              <a:buNone/>
            </a:pPr>
            <a:r>
              <a:rPr lang="en-US" sz="14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Chef</a:t>
            </a:r>
            <a:pPr indent="0" marL="0">
              <a:spcAft>
                <a:spcPts val="1200"/>
              </a:spcAft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y </a:t>
            </a:r>
            <a:pPr indent="0" marL="0">
              <a:spcAft>
                <a:spcPts val="1200"/>
              </a:spcAft>
              <a:buNone/>
            </a:pPr>
            <a:r>
              <a:rPr lang="en-US" sz="14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Gerente</a:t>
            </a:r>
            <a:pPr indent="0" marL="0">
              <a:spcAft>
                <a:spcPts val="1200"/>
              </a:spcAft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4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206240" y="1097280"/>
          <a:ext cx="4480560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914400"/>
                <a:gridCol w="91440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CB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CB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CB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CB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C3A2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Chef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CB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CB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CB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CB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C3A2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Gerente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CB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CB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CB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CB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C3A2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Sus recetas, menús y clientes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CB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CB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CB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CB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Sí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CB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CB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CB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CB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Sí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CB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CB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CB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CB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Recetas de otros chefs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CB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CB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CB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CB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1E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 acceso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CB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CB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CB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CB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1E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Sí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CB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CB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CB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CB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1E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Borradores y PDF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CB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CB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CB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CB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Sí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CB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CB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CB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CB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Sí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CB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CB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CB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CB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Emitir, cobrar, anular, rectificar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CB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CB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CB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CB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1E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A932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CB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CB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CB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CB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1E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Sí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CB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CB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CB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CB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1E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Copiar y compartir recetas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CB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CB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CB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CB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A932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CB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CB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CB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CB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Sí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CB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CB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CB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CB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Precios propios e ingredientes privados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CB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CB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CB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CB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1E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A932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CB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CB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CB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CB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1E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Sí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CB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CB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CB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CB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1E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Miembros, datos y logo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CB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CB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CB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CB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A932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CB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CB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CB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CB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Sí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CB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CB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CB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CB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Acceso a recetas y propietarios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CB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CB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CB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CB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1E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A932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CB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CB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CB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CB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1E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Sí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CB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CB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CB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CB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1E6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B6B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6583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C3A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Avisos importantes</a:t>
            </a:r>
            <a:endParaRPr lang="en-US" sz="2600" dirty="0"/>
          </a:p>
        </p:txBody>
      </p:sp>
      <p:sp>
        <p:nvSpPr>
          <p:cNvPr id="3" name="Aviso Alérgenos"/>
          <p:cNvSpPr/>
          <p:nvPr/>
        </p:nvSpPr>
        <p:spPr>
          <a:xfrm>
            <a:off x="457200" y="1097280"/>
            <a:ext cx="4023360" cy="3383280"/>
          </a:xfrm>
          <a:prstGeom prst="roundRect">
            <a:avLst>
              <a:gd name="adj" fmla="val 2703"/>
            </a:avLst>
          </a:prstGeom>
          <a:solidFill>
            <a:srgbClr val="FBF3E4"/>
          </a:solidFill>
          <a:ln w="19050">
            <a:solidFill>
              <a:srgbClr val="A9322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85800" y="1280160"/>
            <a:ext cx="457200" cy="457200"/>
          </a:xfrm>
          <a:prstGeom prst="ellipse">
            <a:avLst/>
          </a:prstGeom>
          <a:solidFill>
            <a:srgbClr val="A9322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!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1280160" y="128016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5C3A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Alérgenos</a:t>
            </a:r>
            <a:endParaRPr lang="en-US" sz="2000" dirty="0"/>
          </a:p>
        </p:txBody>
      </p:sp>
      <p:sp>
        <p:nvSpPr>
          <p:cNvPr id="6" name="Puntos"/>
          <p:cNvSpPr txBox="1"/>
          <p:nvPr/>
        </p:nvSpPr>
        <p:spPr>
          <a:xfrm>
            <a:off x="731520" y="1920240"/>
            <a:ext cx="352044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200"/>
              </a:spcAft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app ayuda, pero la </a:t>
            </a:r>
            <a:pPr indent="0" marL="0">
              <a:spcAft>
                <a:spcPts val="1200"/>
              </a:spcAft>
              <a:buNone/>
            </a:pPr>
            <a:r>
              <a:rPr lang="en-US" sz="14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responsabilidad final es del establecimiento</a:t>
            </a:r>
            <a:pPr indent="0" marL="0">
              <a:spcAft>
                <a:spcPts val="1200"/>
              </a:spcAft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4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Revisa siempre las </a:t>
            </a:r>
            <a:pPr indent="0" marL="0">
              <a:spcAft>
                <a:spcPts val="1200"/>
              </a:spcAft>
              <a:buNone/>
            </a:pPr>
            <a:r>
              <a:rPr lang="en-US" sz="14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etiquetas</a:t>
            </a:r>
            <a:pPr indent="0" marL="0">
              <a:spcAft>
                <a:spcPts val="1200"/>
              </a:spcAft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 los productos.</a:t>
            </a:r>
            <a:endParaRPr lang="en-US" sz="14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4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Ingredientes privados</a:t>
            </a:r>
            <a:pPr indent="0" marL="0">
              <a:spcAft>
                <a:spcPts val="1200"/>
              </a:spcAft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y </a:t>
            </a:r>
            <a:pPr indent="0" marL="0">
              <a:spcAft>
                <a:spcPts val="1200"/>
              </a:spcAft>
              <a:buNone/>
            </a:pPr>
            <a:r>
              <a:rPr lang="en-US" sz="14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recetas copiadas</a:t>
            </a:r>
            <a:pPr indent="0" marL="0">
              <a:spcAft>
                <a:spcPts val="1200"/>
              </a:spcAft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revisa sus alérgenos antes de usarlos.</a:t>
            </a:r>
            <a:endParaRPr lang="en-US" sz="1400" dirty="0"/>
          </a:p>
        </p:txBody>
      </p:sp>
      <p:sp>
        <p:nvSpPr>
          <p:cNvPr id="7" name="Aviso Facturación"/>
          <p:cNvSpPr/>
          <p:nvPr/>
        </p:nvSpPr>
        <p:spPr>
          <a:xfrm>
            <a:off x="4663440" y="1097280"/>
            <a:ext cx="4023360" cy="3383280"/>
          </a:xfrm>
          <a:prstGeom prst="roundRect">
            <a:avLst>
              <a:gd name="adj" fmla="val 2703"/>
            </a:avLst>
          </a:prstGeom>
          <a:solidFill>
            <a:srgbClr val="FBF3E4"/>
          </a:solidFill>
          <a:ln w="19050">
            <a:solidFill>
              <a:srgbClr val="A9322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892040" y="1280160"/>
            <a:ext cx="457200" cy="457200"/>
          </a:xfrm>
          <a:prstGeom prst="ellipse">
            <a:avLst/>
          </a:prstGeom>
          <a:solidFill>
            <a:srgbClr val="A9322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!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5486400" y="128016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5C3A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Facturación</a:t>
            </a:r>
            <a:endParaRPr lang="en-US" sz="2000" dirty="0"/>
          </a:p>
        </p:txBody>
      </p:sp>
      <p:sp>
        <p:nvSpPr>
          <p:cNvPr id="10" name="Puntos"/>
          <p:cNvSpPr txBox="1"/>
          <p:nvPr/>
        </p:nvSpPr>
        <p:spPr>
          <a:xfrm>
            <a:off x="4937760" y="1920240"/>
            <a:ext cx="352044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200"/>
              </a:spcAft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app </a:t>
            </a:r>
            <a:pPr indent="0" marL="0">
              <a:spcAft>
                <a:spcPts val="1200"/>
              </a:spcAft>
              <a:buNone/>
            </a:pPr>
            <a:r>
              <a:rPr lang="en-US" sz="14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está certificada VERI*FACTU</a:t>
            </a:r>
            <a:pPr indent="0" marL="0">
              <a:spcAft>
                <a:spcPts val="1200"/>
              </a:spcAft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4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Consulta con tu </a:t>
            </a:r>
            <a:pPr indent="0" marL="0">
              <a:spcAft>
                <a:spcPts val="1200"/>
              </a:spcAft>
              <a:buNone/>
            </a:pPr>
            <a:r>
              <a:rPr lang="en-US" sz="14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gestoría</a:t>
            </a:r>
            <a:pPr indent="0" marL="0">
              <a:spcAft>
                <a:spcPts val="1200"/>
              </a:spcAft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antes de usarla como sistema fiscal.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B6B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40080" y="1188720"/>
            <a:ext cx="2743200" cy="12801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7200" b="1" dirty="0">
                <a:solidFill>
                  <a:srgbClr val="E8CD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7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2514600"/>
            <a:ext cx="7863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Acceso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40080" y="333756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E8CD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Entrar, recuperar la contraseña y unirte a tu organización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6583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C3A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Entrar en la aplicación</a:t>
            </a:r>
            <a:endParaRPr lang="en-US" sz="2600" dirty="0"/>
          </a:p>
        </p:txBody>
      </p:sp>
      <p:sp>
        <p:nvSpPr>
          <p:cNvPr id="3" name="Paso 1"/>
          <p:cNvSpPr txBox="1"/>
          <p:nvPr/>
        </p:nvSpPr>
        <p:spPr>
          <a:xfrm>
            <a:off x="457200" y="1115568"/>
            <a:ext cx="310896" cy="310896"/>
          </a:xfrm>
          <a:prstGeom prst="ellipse">
            <a:avLst/>
          </a:prstGeom>
          <a:solidFill>
            <a:srgbClr val="B8904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4" name="Texto paso 1"/>
          <p:cNvSpPr txBox="1"/>
          <p:nvPr/>
        </p:nvSpPr>
        <p:spPr>
          <a:xfrm>
            <a:off x="896112" y="1060704"/>
            <a:ext cx="376732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Abre la app y pulsa </a:t>
            </a:r>
            <a:pPr indent="0" marL="0">
              <a:buNone/>
            </a:pPr>
            <a:r>
              <a:rPr lang="en-US" sz="14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Entrar a la aplicación</a:t>
            </a:r>
            <a:pPr indent="0" marL="0"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400" dirty="0"/>
          </a:p>
        </p:txBody>
      </p:sp>
      <p:sp>
        <p:nvSpPr>
          <p:cNvPr id="5" name="Paso 2"/>
          <p:cNvSpPr txBox="1"/>
          <p:nvPr/>
        </p:nvSpPr>
        <p:spPr>
          <a:xfrm>
            <a:off x="457200" y="1847088"/>
            <a:ext cx="310896" cy="310896"/>
          </a:xfrm>
          <a:prstGeom prst="ellipse">
            <a:avLst/>
          </a:prstGeom>
          <a:solidFill>
            <a:srgbClr val="B8904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6" name="Texto paso 2"/>
          <p:cNvSpPr txBox="1"/>
          <p:nvPr/>
        </p:nvSpPr>
        <p:spPr>
          <a:xfrm>
            <a:off x="896112" y="1792224"/>
            <a:ext cx="376732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la barra lateral, pulsa </a:t>
            </a:r>
            <a:pPr indent="0" marL="0">
              <a:buNone/>
            </a:pPr>
            <a:r>
              <a:rPr lang="en-US" sz="14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Entrar con Google</a:t>
            </a:r>
            <a:pPr indent="0" marL="0"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o escribe </a:t>
            </a:r>
            <a:pPr indent="0" marL="0">
              <a:buNone/>
            </a:pPr>
            <a:r>
              <a:rPr lang="en-US" sz="14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Email</a:t>
            </a:r>
            <a:pPr indent="0" marL="0"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y </a:t>
            </a:r>
            <a:pPr indent="0" marL="0">
              <a:buNone/>
            </a:pPr>
            <a:r>
              <a:rPr lang="en-US" sz="14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Contraseña</a:t>
            </a:r>
            <a:pPr indent="0" marL="0"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y pulsa </a:t>
            </a:r>
            <a:pPr indent="0" marL="0">
              <a:buNone/>
            </a:pPr>
            <a:r>
              <a:rPr lang="en-US" sz="14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Iniciar sesión</a:t>
            </a:r>
            <a:pPr indent="0" marL="0"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400" dirty="0"/>
          </a:p>
        </p:txBody>
      </p:sp>
      <p:sp>
        <p:nvSpPr>
          <p:cNvPr id="7" name="Paso 3"/>
          <p:cNvSpPr txBox="1"/>
          <p:nvPr/>
        </p:nvSpPr>
        <p:spPr>
          <a:xfrm>
            <a:off x="457200" y="2578608"/>
            <a:ext cx="310896" cy="310896"/>
          </a:xfrm>
          <a:prstGeom prst="ellipse">
            <a:avLst/>
          </a:prstGeom>
          <a:solidFill>
            <a:srgbClr val="B8904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8" name="Texto paso 3"/>
          <p:cNvSpPr txBox="1"/>
          <p:nvPr/>
        </p:nvSpPr>
        <p:spPr>
          <a:xfrm>
            <a:off x="896112" y="2523744"/>
            <a:ext cx="376732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Verás </a:t>
            </a:r>
            <a:pPr indent="0" marL="0">
              <a:buNone/>
            </a:pPr>
            <a:r>
              <a:rPr lang="en-US" sz="14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iniciada</a:t>
            </a:r>
            <a:pPr indent="0" marL="0"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con tu correo en la barra lateral.</a:t>
            </a:r>
            <a:endParaRPr lang="en-US" sz="1400" dirty="0"/>
          </a:p>
        </p:txBody>
      </p:sp>
      <p:sp>
        <p:nvSpPr>
          <p:cNvPr id="9" name="Paso 4"/>
          <p:cNvSpPr txBox="1"/>
          <p:nvPr/>
        </p:nvSpPr>
        <p:spPr>
          <a:xfrm>
            <a:off x="457200" y="3310128"/>
            <a:ext cx="310896" cy="310896"/>
          </a:xfrm>
          <a:prstGeom prst="ellipse">
            <a:avLst/>
          </a:prstGeom>
          <a:solidFill>
            <a:srgbClr val="B8904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10" name="Texto paso 4"/>
          <p:cNvSpPr txBox="1"/>
          <p:nvPr/>
        </p:nvSpPr>
        <p:spPr>
          <a:xfrm>
            <a:off x="896112" y="3255264"/>
            <a:ext cx="376732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¿Olvidaste la contraseña? </a:t>
            </a:r>
            <a:pPr indent="0" marL="0">
              <a:buNone/>
            </a:pPr>
            <a:r>
              <a:rPr lang="en-US" sz="14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¿Has olvidado tu contraseña?</a:t>
            </a:r>
            <a:pPr indent="0" marL="0"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→ </a:t>
            </a:r>
            <a:pPr indent="0" marL="0">
              <a:buNone/>
            </a:pPr>
            <a:r>
              <a:rPr lang="en-US" sz="14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Enviar enlace de recuperación</a:t>
            </a:r>
            <a:pPr indent="0" marL="0"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400" dirty="0"/>
          </a:p>
        </p:txBody>
      </p:sp>
      <p:pic>
        <p:nvPicPr>
          <p:cNvPr id="11" name="Captura 00" descr="Portada con el botón «Entrar a la aplicación»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37760" y="1005840"/>
            <a:ext cx="1783080" cy="1694582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pic>
      <p:pic>
        <p:nvPicPr>
          <p:cNvPr id="12" name="Captura 01" descr="Acceso en la barra lateral: Entrar con Google, email y contraseñ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03720" y="1005840"/>
            <a:ext cx="1783080" cy="2372920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B6B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6583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C3A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Unirte a tu organización</a:t>
            </a:r>
            <a:endParaRPr lang="en-US" sz="2600" dirty="0"/>
          </a:p>
        </p:txBody>
      </p:sp>
      <p:sp>
        <p:nvSpPr>
          <p:cNvPr id="3" name="Etapa 1"/>
          <p:cNvSpPr/>
          <p:nvPr/>
        </p:nvSpPr>
        <p:spPr>
          <a:xfrm>
            <a:off x="457200" y="1371600"/>
            <a:ext cx="1874520" cy="2194560"/>
          </a:xfrm>
          <a:prstGeom prst="roundRect">
            <a:avLst>
              <a:gd name="adj" fmla="val 4878"/>
            </a:avLst>
          </a:prstGeom>
          <a:solidFill>
            <a:srgbClr val="F7F1E6"/>
          </a:solidFill>
          <a:ln w="12700">
            <a:solidFill>
              <a:srgbClr val="E8CD9A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1143000" y="1554480"/>
            <a:ext cx="502920" cy="502920"/>
          </a:xfrm>
          <a:prstGeom prst="ellipse">
            <a:avLst/>
          </a:prstGeom>
          <a:solidFill>
            <a:srgbClr val="B8904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1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594360" y="2194560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5C3A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Recibe el código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594360" y="2606040"/>
            <a:ext cx="1600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 lo da tu gerente: es tu </a:t>
            </a:r>
            <a:pPr algn="ctr"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código de invitación</a:t>
            </a:r>
            <a:pPr algn="ctr" indent="0" marL="0">
              <a:buNone/>
            </a:pPr>
            <a:r>
              <a:rPr lang="en-US" sz="13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300" dirty="0"/>
          </a:p>
        </p:txBody>
      </p:sp>
      <p:sp>
        <p:nvSpPr>
          <p:cNvPr id="7" name="Flecha"/>
          <p:cNvSpPr/>
          <p:nvPr/>
        </p:nvSpPr>
        <p:spPr>
          <a:xfrm>
            <a:off x="2359152" y="2377440"/>
            <a:ext cx="173736" cy="201168"/>
          </a:xfrm>
          <a:prstGeom prst="rightArrow">
            <a:avLst/>
          </a:prstGeom>
          <a:solidFill>
            <a:srgbClr val="B8904F"/>
          </a:solidFill>
          <a:ln w="12700">
            <a:solidFill>
              <a:srgbClr val="B8904F"/>
            </a:solidFill>
            <a:prstDash val="solid"/>
          </a:ln>
        </p:spPr>
      </p:sp>
      <p:sp>
        <p:nvSpPr>
          <p:cNvPr id="8" name="Etapa 2"/>
          <p:cNvSpPr/>
          <p:nvPr/>
        </p:nvSpPr>
        <p:spPr>
          <a:xfrm>
            <a:off x="2560320" y="1371600"/>
            <a:ext cx="1874520" cy="2194560"/>
          </a:xfrm>
          <a:prstGeom prst="roundRect">
            <a:avLst>
              <a:gd name="adj" fmla="val 4878"/>
            </a:avLst>
          </a:prstGeom>
          <a:solidFill>
            <a:srgbClr val="F7F1E6"/>
          </a:solidFill>
          <a:ln w="12700">
            <a:solidFill>
              <a:srgbClr val="E8CD9A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246120" y="1554480"/>
            <a:ext cx="502920" cy="502920"/>
          </a:xfrm>
          <a:prstGeom prst="ellipse">
            <a:avLst/>
          </a:prstGeom>
          <a:solidFill>
            <a:srgbClr val="B8904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2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2697480" y="2194560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5C3A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Entra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2697480" y="2606040"/>
            <a:ext cx="1600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el </a:t>
            </a:r>
            <a:pPr algn="ctr"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mismo correo</a:t>
            </a:r>
            <a:pPr algn="ctr" indent="0" marL="0">
              <a:buNone/>
            </a:pPr>
            <a:r>
              <a:rPr lang="en-US" sz="13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al que se envió la invitación.</a:t>
            </a:r>
            <a:endParaRPr lang="en-US" sz="1300" dirty="0"/>
          </a:p>
        </p:txBody>
      </p:sp>
      <p:sp>
        <p:nvSpPr>
          <p:cNvPr id="12" name="Flecha"/>
          <p:cNvSpPr/>
          <p:nvPr/>
        </p:nvSpPr>
        <p:spPr>
          <a:xfrm>
            <a:off x="4462272" y="2377440"/>
            <a:ext cx="173736" cy="201168"/>
          </a:xfrm>
          <a:prstGeom prst="rightArrow">
            <a:avLst/>
          </a:prstGeom>
          <a:solidFill>
            <a:srgbClr val="B8904F"/>
          </a:solidFill>
          <a:ln w="12700">
            <a:solidFill>
              <a:srgbClr val="B8904F"/>
            </a:solidFill>
            <a:prstDash val="solid"/>
          </a:ln>
        </p:spPr>
      </p:sp>
      <p:sp>
        <p:nvSpPr>
          <p:cNvPr id="13" name="Etapa 3"/>
          <p:cNvSpPr/>
          <p:nvPr/>
        </p:nvSpPr>
        <p:spPr>
          <a:xfrm>
            <a:off x="4663440" y="1371600"/>
            <a:ext cx="1874520" cy="2194560"/>
          </a:xfrm>
          <a:prstGeom prst="roundRect">
            <a:avLst>
              <a:gd name="adj" fmla="val 4878"/>
            </a:avLst>
          </a:prstGeom>
          <a:solidFill>
            <a:srgbClr val="F7F1E6"/>
          </a:solidFill>
          <a:ln w="12700">
            <a:solidFill>
              <a:srgbClr val="E8CD9A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349240" y="1554480"/>
            <a:ext cx="502920" cy="502920"/>
          </a:xfrm>
          <a:prstGeom prst="ellipse">
            <a:avLst/>
          </a:prstGeom>
          <a:solidFill>
            <a:srgbClr val="B8904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3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4800600" y="2194560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5C3A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Pega el código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4800600" y="2606040"/>
            <a:ext cx="1600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el campo </a:t>
            </a:r>
            <a:pPr algn="ctr"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Código de invitación</a:t>
            </a:r>
            <a:pPr algn="ctr" indent="0" marL="0">
              <a:buNone/>
            </a:pPr>
            <a:r>
              <a:rPr lang="en-US" sz="13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Flecha"/>
          <p:cNvSpPr/>
          <p:nvPr/>
        </p:nvSpPr>
        <p:spPr>
          <a:xfrm>
            <a:off x="6565392" y="2377440"/>
            <a:ext cx="173736" cy="201168"/>
          </a:xfrm>
          <a:prstGeom prst="rightArrow">
            <a:avLst/>
          </a:prstGeom>
          <a:solidFill>
            <a:srgbClr val="B8904F"/>
          </a:solidFill>
          <a:ln w="12700">
            <a:solidFill>
              <a:srgbClr val="B8904F"/>
            </a:solidFill>
            <a:prstDash val="solid"/>
          </a:ln>
        </p:spPr>
      </p:sp>
      <p:sp>
        <p:nvSpPr>
          <p:cNvPr id="18" name="Etapa 4"/>
          <p:cNvSpPr/>
          <p:nvPr/>
        </p:nvSpPr>
        <p:spPr>
          <a:xfrm>
            <a:off x="6766560" y="1371600"/>
            <a:ext cx="1874520" cy="2194560"/>
          </a:xfrm>
          <a:prstGeom prst="roundRect">
            <a:avLst>
              <a:gd name="adj" fmla="val 4878"/>
            </a:avLst>
          </a:prstGeom>
          <a:solidFill>
            <a:srgbClr val="F7F1E6"/>
          </a:solidFill>
          <a:ln w="12700">
            <a:solidFill>
              <a:srgbClr val="E8CD9A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7452360" y="1554480"/>
            <a:ext cx="502920" cy="502920"/>
          </a:xfrm>
          <a:prstGeom prst="ellipse">
            <a:avLst/>
          </a:prstGeom>
          <a:solidFill>
            <a:srgbClr val="B8904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4</a:t>
            </a:r>
            <a:endParaRPr lang="en-US" sz="1800" dirty="0"/>
          </a:p>
        </p:txBody>
      </p:sp>
      <p:sp>
        <p:nvSpPr>
          <p:cNvPr id="20" name="Text 18"/>
          <p:cNvSpPr txBox="1"/>
          <p:nvPr/>
        </p:nvSpPr>
        <p:spPr>
          <a:xfrm>
            <a:off x="6903720" y="2194560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5C3A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Canjea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6903720" y="2606040"/>
            <a:ext cx="1600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Pulsa </a:t>
            </a:r>
            <a:pPr algn="ctr"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Canjear invitación</a:t>
            </a:r>
            <a:pPr algn="ctr" indent="0" marL="0">
              <a:buNone/>
            </a:pPr>
            <a:r>
              <a:rPr lang="en-US" sz="13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verás «¡Te has unido a…!».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457200" y="39319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te llega un enlace de invitación, ábrelo con la sesión iniciada: se canjea solo.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B6B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6583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C3A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pantalla principal</a:t>
            </a:r>
            <a:endParaRPr lang="en-US" sz="2600" dirty="0"/>
          </a:p>
        </p:txBody>
      </p:sp>
      <p:sp>
        <p:nvSpPr>
          <p:cNvPr id="3" name="Puntos"/>
          <p:cNvSpPr txBox="1"/>
          <p:nvPr/>
        </p:nvSpPr>
        <p:spPr>
          <a:xfrm>
            <a:off x="457200" y="1097280"/>
            <a:ext cx="420624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200"/>
              </a:spcAft>
              <a:buNone/>
            </a:pPr>
            <a:r>
              <a:rPr lang="en-US" sz="14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Barra lateral</a:t>
            </a:r>
            <a:pPr indent="0" marL="0">
              <a:spcAft>
                <a:spcPts val="1200"/>
              </a:spcAft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logo y organización, tu sesión, </a:t>
            </a:r>
            <a:pPr indent="0" marL="0">
              <a:spcAft>
                <a:spcPts val="1200"/>
              </a:spcAft>
              <a:buNone/>
            </a:pPr>
            <a:r>
              <a:rPr lang="en-US" sz="14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Ficha de ingrediente</a:t>
            </a:r>
            <a:pPr indent="0" marL="0">
              <a:spcAft>
                <a:spcPts val="1200"/>
              </a:spcAft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4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4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Pestañas</a:t>
            </a:r>
            <a:pPr indent="0" marL="0">
              <a:spcAft>
                <a:spcPts val="1200"/>
              </a:spcAft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Recetas, Menús, Clientes y Facturas.</a:t>
            </a:r>
            <a:endParaRPr lang="en-US" sz="14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gerente ve además </a:t>
            </a:r>
            <a:pPr indent="0" marL="0">
              <a:spcAft>
                <a:spcPts val="1200"/>
              </a:spcAft>
              <a:buNone/>
            </a:pPr>
            <a:r>
              <a:rPr lang="en-US" sz="14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Navegación</a:t>
            </a:r>
            <a:pPr indent="0" marL="0">
              <a:spcAft>
                <a:spcPts val="1200"/>
              </a:spcAft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App / Gerente.</a:t>
            </a:r>
            <a:endParaRPr lang="en-US" sz="14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¿Varias organizaciones? Elige en </a:t>
            </a:r>
            <a:pPr indent="0" marL="0">
              <a:spcAft>
                <a:spcPts val="1200"/>
              </a:spcAft>
              <a:buNone/>
            </a:pPr>
            <a:r>
              <a:rPr lang="en-US" sz="14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Organización activa</a:t>
            </a:r>
            <a:pPr indent="0" marL="0">
              <a:spcAft>
                <a:spcPts val="1200"/>
              </a:spcAft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4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¿No ves un cambio de rol? Pulsa </a:t>
            </a:r>
            <a:pPr indent="0" marL="0">
              <a:spcAft>
                <a:spcPts val="1200"/>
              </a:spcAft>
              <a:buNone/>
            </a:pPr>
            <a:r>
              <a:rPr lang="en-US" sz="14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Recargar permisos</a:t>
            </a:r>
            <a:pPr indent="0" marL="0">
              <a:spcAft>
                <a:spcPts val="1200"/>
              </a:spcAft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400" dirty="0"/>
          </a:p>
        </p:txBody>
      </p:sp>
      <p:pic>
        <p:nvPicPr>
          <p:cNvPr id="4" name="Captura 10" descr="Pantalla principal del chef con la barra later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04006" y="1005840"/>
            <a:ext cx="2816548" cy="3657600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B6B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40080" y="1188720"/>
            <a:ext cx="2743200" cy="12801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7200" b="1" dirty="0">
                <a:solidFill>
                  <a:srgbClr val="E8CD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7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2514600"/>
            <a:ext cx="7863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Recetas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40080" y="333756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E8CD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Escandallos, costes, alérgenos e inteligencia artificial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6583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C3A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Crear una receta</a:t>
            </a:r>
            <a:endParaRPr lang="en-US" sz="2600" dirty="0"/>
          </a:p>
        </p:txBody>
      </p:sp>
      <p:sp>
        <p:nvSpPr>
          <p:cNvPr id="3" name="Paso 1"/>
          <p:cNvSpPr txBox="1"/>
          <p:nvPr/>
        </p:nvSpPr>
        <p:spPr>
          <a:xfrm>
            <a:off x="457200" y="1115568"/>
            <a:ext cx="310896" cy="310896"/>
          </a:xfrm>
          <a:prstGeom prst="ellipse">
            <a:avLst/>
          </a:prstGeom>
          <a:solidFill>
            <a:srgbClr val="B8904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4" name="Texto paso 1"/>
          <p:cNvSpPr txBox="1"/>
          <p:nvPr/>
        </p:nvSpPr>
        <p:spPr>
          <a:xfrm>
            <a:off x="896112" y="1060704"/>
            <a:ext cx="376732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Pestaña </a:t>
            </a:r>
            <a:pPr indent="0" marL="0">
              <a:buNone/>
            </a:pPr>
            <a:r>
              <a:rPr lang="en-US" sz="14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Recetas</a:t>
            </a:r>
            <a:pPr indent="0" marL="0"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400" dirty="0"/>
          </a:p>
        </p:txBody>
      </p:sp>
      <p:sp>
        <p:nvSpPr>
          <p:cNvPr id="5" name="Paso 2"/>
          <p:cNvSpPr txBox="1"/>
          <p:nvPr/>
        </p:nvSpPr>
        <p:spPr>
          <a:xfrm>
            <a:off x="457200" y="1719072"/>
            <a:ext cx="310896" cy="310896"/>
          </a:xfrm>
          <a:prstGeom prst="ellipse">
            <a:avLst/>
          </a:prstGeom>
          <a:solidFill>
            <a:srgbClr val="B8904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6" name="Texto paso 2"/>
          <p:cNvSpPr txBox="1"/>
          <p:nvPr/>
        </p:nvSpPr>
        <p:spPr>
          <a:xfrm>
            <a:off x="896112" y="1664208"/>
            <a:ext cx="376732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Escribe </a:t>
            </a:r>
            <a:pPr indent="0" marL="0">
              <a:buNone/>
            </a:pPr>
            <a:r>
              <a:rPr lang="en-US" sz="14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Nombre</a:t>
            </a:r>
            <a:pPr indent="0" marL="0"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pPr indent="0" marL="0">
              <a:buNone/>
            </a:pPr>
            <a:r>
              <a:rPr lang="en-US" sz="14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Categoría</a:t>
            </a:r>
            <a:pPr indent="0" marL="0"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y </a:t>
            </a:r>
            <a:pPr indent="0" marL="0">
              <a:buNone/>
            </a:pPr>
            <a:r>
              <a:rPr lang="en-US" sz="14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plato</a:t>
            </a:r>
            <a:pPr indent="0" marL="0"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400" dirty="0"/>
          </a:p>
        </p:txBody>
      </p:sp>
      <p:sp>
        <p:nvSpPr>
          <p:cNvPr id="7" name="Paso 3"/>
          <p:cNvSpPr txBox="1"/>
          <p:nvPr/>
        </p:nvSpPr>
        <p:spPr>
          <a:xfrm>
            <a:off x="457200" y="2322576"/>
            <a:ext cx="310896" cy="310896"/>
          </a:xfrm>
          <a:prstGeom prst="ellipse">
            <a:avLst/>
          </a:prstGeom>
          <a:solidFill>
            <a:srgbClr val="B8904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8" name="Texto paso 3"/>
          <p:cNvSpPr txBox="1"/>
          <p:nvPr/>
        </p:nvSpPr>
        <p:spPr>
          <a:xfrm>
            <a:off x="896112" y="2267712"/>
            <a:ext cx="376732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 las </a:t>
            </a:r>
            <a:pPr indent="0" marL="0">
              <a:buNone/>
            </a:pPr>
            <a:r>
              <a:rPr lang="en-US" sz="14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Raciones base receta</a:t>
            </a:r>
            <a:pPr indent="0" marL="0"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(1 si ya es por ración).</a:t>
            </a:r>
            <a:endParaRPr lang="en-US" sz="1400" dirty="0"/>
          </a:p>
        </p:txBody>
      </p:sp>
      <p:sp>
        <p:nvSpPr>
          <p:cNvPr id="9" name="Paso 4"/>
          <p:cNvSpPr txBox="1"/>
          <p:nvPr/>
        </p:nvSpPr>
        <p:spPr>
          <a:xfrm>
            <a:off x="457200" y="2926080"/>
            <a:ext cx="310896" cy="310896"/>
          </a:xfrm>
          <a:prstGeom prst="ellipse">
            <a:avLst/>
          </a:prstGeom>
          <a:solidFill>
            <a:srgbClr val="B8904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10" name="Texto paso 4"/>
          <p:cNvSpPr txBox="1"/>
          <p:nvPr/>
        </p:nvSpPr>
        <p:spPr>
          <a:xfrm>
            <a:off x="896112" y="2871216"/>
            <a:ext cx="376732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recetas se guardan siempre </a:t>
            </a:r>
            <a:pPr indent="0" marL="0">
              <a:buNone/>
            </a:pPr>
            <a:r>
              <a:rPr lang="en-US" sz="14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1 ración</a:t>
            </a:r>
            <a:pPr indent="0" marL="0"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400" dirty="0"/>
          </a:p>
        </p:txBody>
      </p:sp>
      <p:pic>
        <p:nvPicPr>
          <p:cNvPr id="11" name="Captura 12" descr="Receta nueva: nombre, categoría, tipo de plato y raciones bas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37760" y="1005840"/>
            <a:ext cx="3749040" cy="2837919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B6B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6583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C3A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Añadir ingredientes</a:t>
            </a:r>
            <a:endParaRPr lang="en-US" sz="2600" dirty="0"/>
          </a:p>
        </p:txBody>
      </p:sp>
      <p:sp>
        <p:nvSpPr>
          <p:cNvPr id="3" name="Paso 1"/>
          <p:cNvSpPr txBox="1"/>
          <p:nvPr/>
        </p:nvSpPr>
        <p:spPr>
          <a:xfrm>
            <a:off x="457200" y="1115568"/>
            <a:ext cx="310896" cy="310896"/>
          </a:xfrm>
          <a:prstGeom prst="ellipse">
            <a:avLst/>
          </a:prstGeom>
          <a:solidFill>
            <a:srgbClr val="B8904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4" name="Texto paso 1"/>
          <p:cNvSpPr txBox="1"/>
          <p:nvPr/>
        </p:nvSpPr>
        <p:spPr>
          <a:xfrm>
            <a:off x="896112" y="1060704"/>
            <a:ext cx="376732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Escribe el ingrediente en la </a:t>
            </a:r>
            <a:pPr indent="0" marL="0">
              <a:buNone/>
            </a:pPr>
            <a:r>
              <a:rPr lang="en-US" sz="14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última fila</a:t>
            </a:r>
            <a:pPr indent="0" marL="0"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 la tabla.</a:t>
            </a:r>
            <a:endParaRPr lang="en-US" sz="1400" dirty="0"/>
          </a:p>
        </p:txBody>
      </p:sp>
      <p:sp>
        <p:nvSpPr>
          <p:cNvPr id="5" name="Paso 2"/>
          <p:cNvSpPr txBox="1"/>
          <p:nvPr/>
        </p:nvSpPr>
        <p:spPr>
          <a:xfrm>
            <a:off x="457200" y="1719072"/>
            <a:ext cx="310896" cy="310896"/>
          </a:xfrm>
          <a:prstGeom prst="ellipse">
            <a:avLst/>
          </a:prstGeom>
          <a:solidFill>
            <a:srgbClr val="B8904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6" name="Texto paso 2"/>
          <p:cNvSpPr txBox="1"/>
          <p:nvPr/>
        </p:nvSpPr>
        <p:spPr>
          <a:xfrm>
            <a:off x="896112" y="1664208"/>
            <a:ext cx="376732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Elige la coincidencia del inventario y pulsa </a:t>
            </a:r>
            <a:pPr indent="0" marL="0">
              <a:buNone/>
            </a:pPr>
            <a:r>
              <a:rPr lang="en-US" sz="14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Usar</a:t>
            </a:r>
            <a:pPr indent="0" marL="0"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400" dirty="0"/>
          </a:p>
        </p:txBody>
      </p:sp>
      <p:sp>
        <p:nvSpPr>
          <p:cNvPr id="7" name="Paso 3"/>
          <p:cNvSpPr txBox="1"/>
          <p:nvPr/>
        </p:nvSpPr>
        <p:spPr>
          <a:xfrm>
            <a:off x="457200" y="2322576"/>
            <a:ext cx="310896" cy="310896"/>
          </a:xfrm>
          <a:prstGeom prst="ellipse">
            <a:avLst/>
          </a:prstGeom>
          <a:solidFill>
            <a:srgbClr val="B8904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8" name="Texto paso 3"/>
          <p:cNvSpPr txBox="1"/>
          <p:nvPr/>
        </p:nvSpPr>
        <p:spPr>
          <a:xfrm>
            <a:off x="896112" y="2267712"/>
            <a:ext cx="376732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Escribe la </a:t>
            </a:r>
            <a:pPr indent="0" marL="0">
              <a:buNone/>
            </a:pPr>
            <a:r>
              <a:rPr lang="en-US" sz="14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Cantidad compra</a:t>
            </a:r>
            <a:pPr indent="0" marL="0"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(bruta) y revisa la </a:t>
            </a:r>
            <a:pPr indent="0" marL="0">
              <a:buNone/>
            </a:pPr>
            <a:r>
              <a:rPr lang="en-US" sz="14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Unidad</a:t>
            </a:r>
            <a:pPr indent="0" marL="0"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400" dirty="0"/>
          </a:p>
        </p:txBody>
      </p:sp>
      <p:sp>
        <p:nvSpPr>
          <p:cNvPr id="9" name="Paso 4"/>
          <p:cNvSpPr txBox="1"/>
          <p:nvPr/>
        </p:nvSpPr>
        <p:spPr>
          <a:xfrm>
            <a:off x="457200" y="2926080"/>
            <a:ext cx="310896" cy="310896"/>
          </a:xfrm>
          <a:prstGeom prst="ellipse">
            <a:avLst/>
          </a:prstGeom>
          <a:solidFill>
            <a:srgbClr val="B8904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10" name="Texto paso 4"/>
          <p:cNvSpPr txBox="1"/>
          <p:nvPr/>
        </p:nvSpPr>
        <p:spPr>
          <a:xfrm>
            <a:off x="896112" y="2871216"/>
            <a:ext cx="376732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merma (%) da la cantidad neta; el coste va sobre la bruta.</a:t>
            </a:r>
            <a:endParaRPr lang="en-US" sz="1400" dirty="0"/>
          </a:p>
        </p:txBody>
      </p:sp>
      <p:pic>
        <p:nvPicPr>
          <p:cNvPr id="11" name="Captura 17b" descr="Tabla de ingredientes con cantidades y unidad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37760" y="1005840"/>
            <a:ext cx="3749040" cy="3657600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B6B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6583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C3A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ficha de ingrediente</a:t>
            </a:r>
            <a:endParaRPr lang="en-US" sz="2600" dirty="0"/>
          </a:p>
        </p:txBody>
      </p:sp>
      <p:sp>
        <p:nvSpPr>
          <p:cNvPr id="3" name="Paso 1"/>
          <p:cNvSpPr txBox="1"/>
          <p:nvPr/>
        </p:nvSpPr>
        <p:spPr>
          <a:xfrm>
            <a:off x="457200" y="1115568"/>
            <a:ext cx="310896" cy="310896"/>
          </a:xfrm>
          <a:prstGeom prst="ellipse">
            <a:avLst/>
          </a:prstGeom>
          <a:solidFill>
            <a:srgbClr val="B8904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4" name="Texto paso 1"/>
          <p:cNvSpPr txBox="1"/>
          <p:nvPr/>
        </p:nvSpPr>
        <p:spPr>
          <a:xfrm>
            <a:off x="896112" y="1060704"/>
            <a:ext cx="376732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Marca una fila en la columna </a:t>
            </a:r>
            <a:pPr indent="0" marL="0">
              <a:buNone/>
            </a:pPr>
            <a:r>
              <a:rPr lang="en-US" sz="14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Seleccionar</a:t>
            </a:r>
            <a:pPr indent="0" marL="0"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400" dirty="0"/>
          </a:p>
        </p:txBody>
      </p:sp>
      <p:sp>
        <p:nvSpPr>
          <p:cNvPr id="5" name="Paso 2"/>
          <p:cNvSpPr txBox="1"/>
          <p:nvPr/>
        </p:nvSpPr>
        <p:spPr>
          <a:xfrm>
            <a:off x="457200" y="1719072"/>
            <a:ext cx="310896" cy="310896"/>
          </a:xfrm>
          <a:prstGeom prst="ellipse">
            <a:avLst/>
          </a:prstGeom>
          <a:solidFill>
            <a:srgbClr val="B8904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6" name="Texto paso 2"/>
          <p:cNvSpPr txBox="1"/>
          <p:nvPr/>
        </p:nvSpPr>
        <p:spPr>
          <a:xfrm>
            <a:off x="896112" y="1664208"/>
            <a:ext cx="376732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Revisa en la barra lateral merma, precio, cantidad y alérgenos.</a:t>
            </a:r>
            <a:endParaRPr lang="en-US" sz="1400" dirty="0"/>
          </a:p>
        </p:txBody>
      </p:sp>
      <p:sp>
        <p:nvSpPr>
          <p:cNvPr id="7" name="Paso 3"/>
          <p:cNvSpPr txBox="1"/>
          <p:nvPr/>
        </p:nvSpPr>
        <p:spPr>
          <a:xfrm>
            <a:off x="457200" y="2322576"/>
            <a:ext cx="310896" cy="310896"/>
          </a:xfrm>
          <a:prstGeom prst="ellipse">
            <a:avLst/>
          </a:prstGeom>
          <a:solidFill>
            <a:srgbClr val="B8904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8" name="Texto paso 3"/>
          <p:cNvSpPr txBox="1"/>
          <p:nvPr/>
        </p:nvSpPr>
        <p:spPr>
          <a:xfrm>
            <a:off x="896112" y="2267712"/>
            <a:ext cx="376732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Pulsa </a:t>
            </a:r>
            <a:pPr indent="0" marL="0">
              <a:buNone/>
            </a:pPr>
            <a:r>
              <a:rPr lang="en-US" sz="14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Actualizar fila de receta</a:t>
            </a:r>
            <a:pPr indent="0" marL="0"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 </a:t>
            </a:r>
            <a:pPr indent="0" marL="0">
              <a:buNone/>
            </a:pPr>
            <a:r>
              <a:rPr lang="en-US" sz="14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Eliminar de esta receta</a:t>
            </a:r>
            <a:pPr indent="0" marL="0"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400" dirty="0"/>
          </a:p>
        </p:txBody>
      </p:sp>
      <p:sp>
        <p:nvSpPr>
          <p:cNvPr id="9" name="Aviso"/>
          <p:cNvSpPr/>
          <p:nvPr/>
        </p:nvSpPr>
        <p:spPr>
          <a:xfrm>
            <a:off x="457200" y="3931920"/>
            <a:ext cx="4206240" cy="685800"/>
          </a:xfrm>
          <a:prstGeom prst="roundRect">
            <a:avLst>
              <a:gd name="adj" fmla="val 10667"/>
            </a:avLst>
          </a:prstGeom>
          <a:solidFill>
            <a:srgbClr val="FBF3E4"/>
          </a:solidFill>
          <a:ln w="15875">
            <a:solidFill>
              <a:srgbClr val="A93226"/>
            </a:solidFill>
            <a:prstDash val="solid"/>
          </a:ln>
        </p:spPr>
      </p:sp>
      <p:sp>
        <p:nvSpPr>
          <p:cNvPr id="10" name="Icono aviso"/>
          <p:cNvSpPr txBox="1"/>
          <p:nvPr/>
        </p:nvSpPr>
        <p:spPr>
          <a:xfrm>
            <a:off x="594360" y="4119372"/>
            <a:ext cx="310896" cy="310896"/>
          </a:xfrm>
          <a:prstGeom prst="ellipse">
            <a:avLst/>
          </a:prstGeom>
          <a:solidFill>
            <a:srgbClr val="A9322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!</a:t>
            </a:r>
            <a:endParaRPr lang="en-US" sz="1400" dirty="0"/>
          </a:p>
        </p:txBody>
      </p:sp>
      <p:sp>
        <p:nvSpPr>
          <p:cNvPr id="11" name="Texto aviso"/>
          <p:cNvSpPr txBox="1"/>
          <p:nvPr/>
        </p:nvSpPr>
        <p:spPr>
          <a:xfrm>
            <a:off x="1024128" y="3931920"/>
            <a:ext cx="3520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Guardar en inventario</a:t>
            </a:r>
            <a:pPr indent="0" marL="0">
              <a:buNone/>
            </a:pPr>
            <a:r>
              <a:rPr lang="en-US" sz="12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crea un ingrediente privado: </a:t>
            </a:r>
            <a:pPr indent="0" marL="0">
              <a:buNone/>
            </a:pPr>
            <a:r>
              <a:rPr lang="en-US" sz="12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solo gerente</a:t>
            </a:r>
            <a:pPr indent="0" marL="0">
              <a:buNone/>
            </a:pPr>
            <a:r>
              <a:rPr lang="en-US" sz="12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200" dirty="0"/>
          </a:p>
        </p:txBody>
      </p:sp>
      <p:pic>
        <p:nvPicPr>
          <p:cNvPr id="12" name="Captura 14" descr="Ficha de ingrediente en la barra later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37760" y="1005840"/>
            <a:ext cx="3749040" cy="3150235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B6B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6583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C3A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Coste, PVP y Food Cost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051560"/>
            <a:ext cx="1737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B890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0,38 €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2286000" y="105156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5C3A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Coste por ración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2286000" y="141732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Cantidad × precio de cada ingrediente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2240280"/>
            <a:ext cx="1737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B890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0,60 €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2286000" y="224028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5C3A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PVP por ración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2286000" y="260604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Coste + indirectos + margen + IVA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3429000"/>
            <a:ext cx="1737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B890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69,9 %</a:t>
            </a:r>
            <a:endParaRPr lang="en-US" sz="3000" dirty="0"/>
          </a:p>
        </p:txBody>
      </p:sp>
      <p:sp>
        <p:nvSpPr>
          <p:cNvPr id="10" name="Text 8"/>
          <p:cNvSpPr txBox="1"/>
          <p:nvPr/>
        </p:nvSpPr>
        <p:spPr>
          <a:xfrm>
            <a:off x="2286000" y="342900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5C3A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Food Cost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2286000" y="379476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Coste ÷ precio de venta sin IVA</a:t>
            </a:r>
            <a:endParaRPr lang="en-US" sz="1300" dirty="0"/>
          </a:p>
        </p:txBody>
      </p:sp>
      <p:pic>
        <p:nvPicPr>
          <p:cNvPr id="12" name="Captura 15" descr="Coste por ración, PVP por ración y Food Cos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37760" y="1005840"/>
            <a:ext cx="3749040" cy="1312574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B6B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6583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C3A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Parámetros avanzados</a:t>
            </a:r>
            <a:endParaRPr lang="en-US" sz="2600" dirty="0"/>
          </a:p>
        </p:txBody>
      </p:sp>
      <p:sp>
        <p:nvSpPr>
          <p:cNvPr id="3" name="Paso 1"/>
          <p:cNvSpPr txBox="1"/>
          <p:nvPr/>
        </p:nvSpPr>
        <p:spPr>
          <a:xfrm>
            <a:off x="457200" y="1115568"/>
            <a:ext cx="310896" cy="310896"/>
          </a:xfrm>
          <a:prstGeom prst="ellipse">
            <a:avLst/>
          </a:prstGeom>
          <a:solidFill>
            <a:srgbClr val="B8904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4" name="Texto paso 1"/>
          <p:cNvSpPr txBox="1"/>
          <p:nvPr/>
        </p:nvSpPr>
        <p:spPr>
          <a:xfrm>
            <a:off x="896112" y="1060704"/>
            <a:ext cx="376732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Abre </a:t>
            </a:r>
            <a:pPr indent="0" marL="0">
              <a:buNone/>
            </a:pPr>
            <a:r>
              <a:rPr lang="en-US" sz="14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Parámetros avanzados</a:t>
            </a:r>
            <a:pPr indent="0" marL="0"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400" dirty="0"/>
          </a:p>
        </p:txBody>
      </p:sp>
      <p:sp>
        <p:nvSpPr>
          <p:cNvPr id="5" name="Paso 2"/>
          <p:cNvSpPr txBox="1"/>
          <p:nvPr/>
        </p:nvSpPr>
        <p:spPr>
          <a:xfrm>
            <a:off x="457200" y="1719072"/>
            <a:ext cx="310896" cy="310896"/>
          </a:xfrm>
          <a:prstGeom prst="ellipse">
            <a:avLst/>
          </a:prstGeom>
          <a:solidFill>
            <a:srgbClr val="B8904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6" name="Texto paso 2"/>
          <p:cNvSpPr txBox="1"/>
          <p:nvPr/>
        </p:nvSpPr>
        <p:spPr>
          <a:xfrm>
            <a:off x="896112" y="1664208"/>
            <a:ext cx="376732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Ajusta </a:t>
            </a:r>
            <a:pPr indent="0" marL="0">
              <a:buNone/>
            </a:pPr>
            <a:r>
              <a:rPr lang="en-US" sz="14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Costes Indirectos (%)</a:t>
            </a:r>
            <a:pPr indent="0" marL="0"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pPr indent="0" marL="0">
              <a:buNone/>
            </a:pPr>
            <a:r>
              <a:rPr lang="en-US" sz="14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Margen Beneficio (%)</a:t>
            </a:r>
            <a:pPr indent="0" marL="0"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 </a:t>
            </a:r>
            <a:pPr indent="0" marL="0">
              <a:buNone/>
            </a:pPr>
            <a:r>
              <a:rPr lang="en-US" sz="14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IVA Evento (%)</a:t>
            </a:r>
            <a:pPr indent="0" marL="0"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400" dirty="0"/>
          </a:p>
        </p:txBody>
      </p:sp>
      <p:sp>
        <p:nvSpPr>
          <p:cNvPr id="7" name="Paso 3"/>
          <p:cNvSpPr txBox="1"/>
          <p:nvPr/>
        </p:nvSpPr>
        <p:spPr>
          <a:xfrm>
            <a:off x="457200" y="2322576"/>
            <a:ext cx="310896" cy="310896"/>
          </a:xfrm>
          <a:prstGeom prst="ellipse">
            <a:avLst/>
          </a:prstGeom>
          <a:solidFill>
            <a:srgbClr val="B8904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8" name="Texto paso 3"/>
          <p:cNvSpPr txBox="1"/>
          <p:nvPr/>
        </p:nvSpPr>
        <p:spPr>
          <a:xfrm>
            <a:off x="896112" y="2267712"/>
            <a:ext cx="376732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PVP y el Food Cost se recalculan al momento.</a:t>
            </a:r>
            <a:endParaRPr lang="en-US" sz="1400" dirty="0"/>
          </a:p>
        </p:txBody>
      </p:sp>
      <p:pic>
        <p:nvPicPr>
          <p:cNvPr id="9" name="Captura 18" descr="Parámetros avanzados abierto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37760" y="1005840"/>
            <a:ext cx="3749040" cy="2625148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B6B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6583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C3A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Ajustar la receta a 1 ración</a:t>
            </a:r>
            <a:endParaRPr lang="en-US" sz="2600" dirty="0"/>
          </a:p>
        </p:txBody>
      </p:sp>
      <p:sp>
        <p:nvSpPr>
          <p:cNvPr id="3" name="Paso 1"/>
          <p:cNvSpPr txBox="1"/>
          <p:nvPr/>
        </p:nvSpPr>
        <p:spPr>
          <a:xfrm>
            <a:off x="457200" y="1115568"/>
            <a:ext cx="310896" cy="310896"/>
          </a:xfrm>
          <a:prstGeom prst="ellipse">
            <a:avLst/>
          </a:prstGeom>
          <a:solidFill>
            <a:srgbClr val="B8904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4" name="Texto paso 1"/>
          <p:cNvSpPr txBox="1"/>
          <p:nvPr/>
        </p:nvSpPr>
        <p:spPr>
          <a:xfrm>
            <a:off x="896112" y="1060704"/>
            <a:ext cx="376732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Escribe las cantidades de la receta original.</a:t>
            </a:r>
            <a:endParaRPr lang="en-US" sz="1400" dirty="0"/>
          </a:p>
        </p:txBody>
      </p:sp>
      <p:sp>
        <p:nvSpPr>
          <p:cNvPr id="5" name="Paso 2"/>
          <p:cNvSpPr txBox="1"/>
          <p:nvPr/>
        </p:nvSpPr>
        <p:spPr>
          <a:xfrm>
            <a:off x="457200" y="1719072"/>
            <a:ext cx="310896" cy="310896"/>
          </a:xfrm>
          <a:prstGeom prst="ellipse">
            <a:avLst/>
          </a:prstGeom>
          <a:solidFill>
            <a:srgbClr val="B8904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6" name="Texto paso 2"/>
          <p:cNvSpPr txBox="1"/>
          <p:nvPr/>
        </p:nvSpPr>
        <p:spPr>
          <a:xfrm>
            <a:off x="896112" y="1664208"/>
            <a:ext cx="376732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Cambia </a:t>
            </a:r>
            <a:pPr indent="0" marL="0">
              <a:buNone/>
            </a:pPr>
            <a:r>
              <a:rPr lang="en-US" sz="14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Raciones base receta</a:t>
            </a:r>
            <a:pPr indent="0" marL="0"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(por ejemplo, 4).</a:t>
            </a:r>
            <a:endParaRPr lang="en-US" sz="1400" dirty="0"/>
          </a:p>
        </p:txBody>
      </p:sp>
      <p:sp>
        <p:nvSpPr>
          <p:cNvPr id="7" name="Paso 3"/>
          <p:cNvSpPr txBox="1"/>
          <p:nvPr/>
        </p:nvSpPr>
        <p:spPr>
          <a:xfrm>
            <a:off x="457200" y="2322576"/>
            <a:ext cx="310896" cy="310896"/>
          </a:xfrm>
          <a:prstGeom prst="ellipse">
            <a:avLst/>
          </a:prstGeom>
          <a:solidFill>
            <a:srgbClr val="B8904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8" name="Texto paso 3"/>
          <p:cNvSpPr txBox="1"/>
          <p:nvPr/>
        </p:nvSpPr>
        <p:spPr>
          <a:xfrm>
            <a:off x="896112" y="2267712"/>
            <a:ext cx="376732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Lee el aviso: las cantidades se dividirán entre 4.</a:t>
            </a:r>
            <a:endParaRPr lang="en-US" sz="1400" dirty="0"/>
          </a:p>
        </p:txBody>
      </p:sp>
      <p:sp>
        <p:nvSpPr>
          <p:cNvPr id="9" name="Paso 4"/>
          <p:cNvSpPr txBox="1"/>
          <p:nvPr/>
        </p:nvSpPr>
        <p:spPr>
          <a:xfrm>
            <a:off x="457200" y="2926080"/>
            <a:ext cx="310896" cy="310896"/>
          </a:xfrm>
          <a:prstGeom prst="ellipse">
            <a:avLst/>
          </a:prstGeom>
          <a:solidFill>
            <a:srgbClr val="B8904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10" name="Texto paso 4"/>
          <p:cNvSpPr txBox="1"/>
          <p:nvPr/>
        </p:nvSpPr>
        <p:spPr>
          <a:xfrm>
            <a:off x="896112" y="2871216"/>
            <a:ext cx="376732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Pulsa </a:t>
            </a:r>
            <a:pPr indent="0" marL="0">
              <a:buNone/>
            </a:pPr>
            <a:r>
              <a:rPr lang="en-US" sz="14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Confirmar ajuste</a:t>
            </a:r>
            <a:pPr indent="0" marL="0"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 </a:t>
            </a:r>
            <a:pPr indent="0" marL="0">
              <a:buNone/>
            </a:pPr>
            <a:r>
              <a:rPr lang="en-US" sz="14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Cancelar</a:t>
            </a:r>
            <a:pPr indent="0" marL="0"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400" dirty="0"/>
          </a:p>
        </p:txBody>
      </p:sp>
      <p:pic>
        <p:nvPicPr>
          <p:cNvPr id="11" name="Captura 21" descr="Aviso de ajuste de raciones base (Confirmar ajuste / Cancelar)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37760" y="1005840"/>
            <a:ext cx="3749040" cy="2904825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B6B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6583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C3A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Alérgenos de la receta</a:t>
            </a:r>
            <a:endParaRPr lang="en-US" sz="2600" dirty="0"/>
          </a:p>
        </p:txBody>
      </p:sp>
      <p:sp>
        <p:nvSpPr>
          <p:cNvPr id="3" name="Puntos"/>
          <p:cNvSpPr txBox="1"/>
          <p:nvPr/>
        </p:nvSpPr>
        <p:spPr>
          <a:xfrm>
            <a:off x="457200" y="1097280"/>
            <a:ext cx="420624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200"/>
              </a:spcAft>
              <a:buNone/>
            </a:pPr>
            <a:r>
              <a:rPr lang="en-US" sz="14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Alérgenos detectados</a:t>
            </a:r>
            <a:pPr indent="0" marL="0">
              <a:spcAft>
                <a:spcPts val="1200"/>
              </a:spcAft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reúne los de todos los ingredientes.</a:t>
            </a:r>
            <a:endParaRPr lang="en-US" sz="14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no se actualiza, pulsa </a:t>
            </a:r>
            <a:pPr indent="0" marL="0">
              <a:spcAft>
                <a:spcPts val="1200"/>
              </a:spcAft>
              <a:buNone/>
            </a:pPr>
            <a:r>
              <a:rPr lang="en-US" sz="14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Refrescar alérgenos</a:t>
            </a:r>
            <a:pPr indent="0" marL="0">
              <a:spcAft>
                <a:spcPts val="1200"/>
              </a:spcAft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4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Aviso rojo = hay ingredientes privados </a:t>
            </a:r>
            <a:pPr indent="0" marL="0">
              <a:spcAft>
                <a:spcPts val="1200"/>
              </a:spcAft>
              <a:buNone/>
            </a:pPr>
            <a:r>
              <a:rPr lang="en-US" sz="14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revisar</a:t>
            </a:r>
            <a:pPr indent="0" marL="0">
              <a:spcAft>
                <a:spcPts val="1200"/>
              </a:spcAft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400" dirty="0"/>
          </a:p>
        </p:txBody>
      </p:sp>
      <p:sp>
        <p:nvSpPr>
          <p:cNvPr id="4" name="Aviso"/>
          <p:cNvSpPr/>
          <p:nvPr/>
        </p:nvSpPr>
        <p:spPr>
          <a:xfrm>
            <a:off x="457200" y="3931920"/>
            <a:ext cx="4206240" cy="685800"/>
          </a:xfrm>
          <a:prstGeom prst="roundRect">
            <a:avLst>
              <a:gd name="adj" fmla="val 10667"/>
            </a:avLst>
          </a:prstGeom>
          <a:solidFill>
            <a:srgbClr val="FBF3E4"/>
          </a:solidFill>
          <a:ln w="15875">
            <a:solidFill>
              <a:srgbClr val="A93226"/>
            </a:solidFill>
            <a:prstDash val="solid"/>
          </a:ln>
        </p:spPr>
      </p:sp>
      <p:sp>
        <p:nvSpPr>
          <p:cNvPr id="5" name="Icono aviso"/>
          <p:cNvSpPr txBox="1"/>
          <p:nvPr/>
        </p:nvSpPr>
        <p:spPr>
          <a:xfrm>
            <a:off x="594360" y="4119372"/>
            <a:ext cx="310896" cy="310896"/>
          </a:xfrm>
          <a:prstGeom prst="ellipse">
            <a:avLst/>
          </a:prstGeom>
          <a:solidFill>
            <a:srgbClr val="A9322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!</a:t>
            </a:r>
            <a:endParaRPr lang="en-US" sz="1400" dirty="0"/>
          </a:p>
        </p:txBody>
      </p:sp>
      <p:sp>
        <p:nvSpPr>
          <p:cNvPr id="6" name="Texto aviso"/>
          <p:cNvSpPr txBox="1"/>
          <p:nvPr/>
        </p:nvSpPr>
        <p:spPr>
          <a:xfrm>
            <a:off x="1024128" y="3931920"/>
            <a:ext cx="3520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app ayuda, pero la </a:t>
            </a:r>
            <a:pPr indent="0" marL="0">
              <a:buNone/>
            </a:pPr>
            <a:r>
              <a:rPr lang="en-US" sz="12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responsabilidad final es del establecimiento</a:t>
            </a:r>
            <a:pPr indent="0" marL="0">
              <a:buNone/>
            </a:pPr>
            <a:r>
              <a:rPr lang="en-US" sz="12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Revisa las etiquetas.</a:t>
            </a:r>
            <a:endParaRPr lang="en-US" sz="1200" dirty="0"/>
          </a:p>
        </p:txBody>
      </p:sp>
      <p:pic>
        <p:nvPicPr>
          <p:cNvPr id="7" name="Captura 16" descr="Bloque «Alérgenos detectados»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37760" y="1005840"/>
            <a:ext cx="3749040" cy="1353592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B6B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6583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C3A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IA: receta a partir de un texto</a:t>
            </a:r>
            <a:endParaRPr lang="en-US" sz="2600" dirty="0"/>
          </a:p>
        </p:txBody>
      </p:sp>
      <p:sp>
        <p:nvSpPr>
          <p:cNvPr id="3" name="Paso 1"/>
          <p:cNvSpPr txBox="1"/>
          <p:nvPr/>
        </p:nvSpPr>
        <p:spPr>
          <a:xfrm>
            <a:off x="457200" y="1115568"/>
            <a:ext cx="310896" cy="310896"/>
          </a:xfrm>
          <a:prstGeom prst="ellipse">
            <a:avLst/>
          </a:prstGeom>
          <a:solidFill>
            <a:srgbClr val="B8904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4" name="Texto paso 1"/>
          <p:cNvSpPr txBox="1"/>
          <p:nvPr/>
        </p:nvSpPr>
        <p:spPr>
          <a:xfrm>
            <a:off x="896112" y="1060704"/>
            <a:ext cx="376732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Abre </a:t>
            </a:r>
            <a:pPr indent="0" marL="0">
              <a:buNone/>
            </a:pPr>
            <a:r>
              <a:rPr lang="en-US" sz="14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IA: Generar receta con IA</a:t>
            </a:r>
            <a:pPr indent="0" marL="0"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→ pestaña </a:t>
            </a:r>
            <a:pPr indent="0" marL="0">
              <a:buNone/>
            </a:pPr>
            <a:r>
              <a:rPr lang="en-US" sz="14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Texto</a:t>
            </a:r>
            <a:pPr indent="0" marL="0"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400" dirty="0"/>
          </a:p>
        </p:txBody>
      </p:sp>
      <p:sp>
        <p:nvSpPr>
          <p:cNvPr id="5" name="Paso 2"/>
          <p:cNvSpPr txBox="1"/>
          <p:nvPr/>
        </p:nvSpPr>
        <p:spPr>
          <a:xfrm>
            <a:off x="457200" y="1645920"/>
            <a:ext cx="310896" cy="310896"/>
          </a:xfrm>
          <a:prstGeom prst="ellipse">
            <a:avLst/>
          </a:prstGeom>
          <a:solidFill>
            <a:srgbClr val="B8904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6" name="Texto paso 2"/>
          <p:cNvSpPr txBox="1"/>
          <p:nvPr/>
        </p:nvSpPr>
        <p:spPr>
          <a:xfrm>
            <a:off x="896112" y="1591056"/>
            <a:ext cx="376732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Pega la receta con cantidades en </a:t>
            </a:r>
            <a:pPr indent="0" marL="0">
              <a:buNone/>
            </a:pPr>
            <a:r>
              <a:rPr lang="en-US" sz="14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Texto para analizar</a:t>
            </a:r>
            <a:pPr indent="0" marL="0"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400" dirty="0"/>
          </a:p>
        </p:txBody>
      </p:sp>
      <p:sp>
        <p:nvSpPr>
          <p:cNvPr id="7" name="Paso 3"/>
          <p:cNvSpPr txBox="1"/>
          <p:nvPr/>
        </p:nvSpPr>
        <p:spPr>
          <a:xfrm>
            <a:off x="457200" y="2176272"/>
            <a:ext cx="310896" cy="310896"/>
          </a:xfrm>
          <a:prstGeom prst="ellipse">
            <a:avLst/>
          </a:prstGeom>
          <a:solidFill>
            <a:srgbClr val="B8904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8" name="Texto paso 3"/>
          <p:cNvSpPr txBox="1"/>
          <p:nvPr/>
        </p:nvSpPr>
        <p:spPr>
          <a:xfrm>
            <a:off x="896112" y="2121408"/>
            <a:ext cx="376732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Pulsa </a:t>
            </a:r>
            <a:pPr indent="0" marL="0">
              <a:buNone/>
            </a:pPr>
            <a:r>
              <a:rPr lang="en-US" sz="14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Analizar texto con IA</a:t>
            </a:r>
            <a:pPr indent="0" marL="0"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400" dirty="0"/>
          </a:p>
        </p:txBody>
      </p:sp>
      <p:sp>
        <p:nvSpPr>
          <p:cNvPr id="9" name="Paso 4"/>
          <p:cNvSpPr txBox="1"/>
          <p:nvPr/>
        </p:nvSpPr>
        <p:spPr>
          <a:xfrm>
            <a:off x="457200" y="2706624"/>
            <a:ext cx="310896" cy="310896"/>
          </a:xfrm>
          <a:prstGeom prst="ellipse">
            <a:avLst/>
          </a:prstGeom>
          <a:solidFill>
            <a:srgbClr val="B8904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10" name="Texto paso 4"/>
          <p:cNvSpPr txBox="1"/>
          <p:nvPr/>
        </p:nvSpPr>
        <p:spPr>
          <a:xfrm>
            <a:off x="896112" y="2651760"/>
            <a:ext cx="376732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Revisa</a:t>
            </a:r>
            <a:pPr indent="0" marL="0"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cada fila: ingrediente, cantidad y unidad.</a:t>
            </a:r>
            <a:endParaRPr lang="en-US" sz="1400" dirty="0"/>
          </a:p>
        </p:txBody>
      </p:sp>
      <p:sp>
        <p:nvSpPr>
          <p:cNvPr id="11" name="Paso 5"/>
          <p:cNvSpPr txBox="1"/>
          <p:nvPr/>
        </p:nvSpPr>
        <p:spPr>
          <a:xfrm>
            <a:off x="457200" y="3236976"/>
            <a:ext cx="310896" cy="310896"/>
          </a:xfrm>
          <a:prstGeom prst="ellipse">
            <a:avLst/>
          </a:prstGeom>
          <a:solidFill>
            <a:srgbClr val="B8904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12" name="Texto paso 5"/>
          <p:cNvSpPr txBox="1"/>
          <p:nvPr/>
        </p:nvSpPr>
        <p:spPr>
          <a:xfrm>
            <a:off x="896112" y="3182112"/>
            <a:ext cx="376732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Ajusta las </a:t>
            </a:r>
            <a:pPr indent="0" marL="0">
              <a:buNone/>
            </a:pPr>
            <a:r>
              <a:rPr lang="en-US" sz="14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Raciones base</a:t>
            </a:r>
            <a:pPr indent="0" marL="0"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si era para varias.</a:t>
            </a:r>
            <a:endParaRPr lang="en-US" sz="1400" dirty="0"/>
          </a:p>
        </p:txBody>
      </p:sp>
      <p:pic>
        <p:nvPicPr>
          <p:cNvPr id="13" name="Captura 17" descr="IA con texto: receta escrita antes de analiza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37760" y="1005840"/>
            <a:ext cx="3749040" cy="1270861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pic>
      <p:pic>
        <p:nvPicPr>
          <p:cNvPr id="14" name="Captura 13" descr="Ingredientes rellenados por la IA a partir del text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13120" y="2459581"/>
            <a:ext cx="1798320" cy="1737360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B6B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6583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C3A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IA: receta a partir de una foto</a:t>
            </a:r>
            <a:endParaRPr lang="en-US" sz="2600" dirty="0"/>
          </a:p>
        </p:txBody>
      </p:sp>
      <p:sp>
        <p:nvSpPr>
          <p:cNvPr id="3" name="Paso 1"/>
          <p:cNvSpPr txBox="1"/>
          <p:nvPr/>
        </p:nvSpPr>
        <p:spPr>
          <a:xfrm>
            <a:off x="457200" y="1115568"/>
            <a:ext cx="310896" cy="310896"/>
          </a:xfrm>
          <a:prstGeom prst="ellipse">
            <a:avLst/>
          </a:prstGeom>
          <a:solidFill>
            <a:srgbClr val="B8904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4" name="Texto paso 1"/>
          <p:cNvSpPr txBox="1"/>
          <p:nvPr/>
        </p:nvSpPr>
        <p:spPr>
          <a:xfrm>
            <a:off x="896112" y="1060704"/>
            <a:ext cx="376732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Abre </a:t>
            </a:r>
            <a:pPr indent="0" marL="0">
              <a:buNone/>
            </a:pPr>
            <a:r>
              <a:rPr lang="en-US" sz="14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IA: Generar receta con IA</a:t>
            </a:r>
            <a:pPr indent="0" marL="0"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→ pestaña </a:t>
            </a:r>
            <a:pPr indent="0" marL="0">
              <a:buNone/>
            </a:pPr>
            <a:r>
              <a:rPr lang="en-US" sz="14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Imagen</a:t>
            </a:r>
            <a:pPr indent="0" marL="0"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400" dirty="0"/>
          </a:p>
        </p:txBody>
      </p:sp>
      <p:sp>
        <p:nvSpPr>
          <p:cNvPr id="5" name="Paso 2"/>
          <p:cNvSpPr txBox="1"/>
          <p:nvPr/>
        </p:nvSpPr>
        <p:spPr>
          <a:xfrm>
            <a:off x="457200" y="1719072"/>
            <a:ext cx="310896" cy="310896"/>
          </a:xfrm>
          <a:prstGeom prst="ellipse">
            <a:avLst/>
          </a:prstGeom>
          <a:solidFill>
            <a:srgbClr val="B8904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6" name="Texto paso 2"/>
          <p:cNvSpPr txBox="1"/>
          <p:nvPr/>
        </p:nvSpPr>
        <p:spPr>
          <a:xfrm>
            <a:off x="896112" y="1664208"/>
            <a:ext cx="376732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Sube la foto (JPG o PNG) de la receta, factura o albarán.</a:t>
            </a:r>
            <a:endParaRPr lang="en-US" sz="1400" dirty="0"/>
          </a:p>
        </p:txBody>
      </p:sp>
      <p:sp>
        <p:nvSpPr>
          <p:cNvPr id="7" name="Paso 3"/>
          <p:cNvSpPr txBox="1"/>
          <p:nvPr/>
        </p:nvSpPr>
        <p:spPr>
          <a:xfrm>
            <a:off x="457200" y="2322576"/>
            <a:ext cx="310896" cy="310896"/>
          </a:xfrm>
          <a:prstGeom prst="ellipse">
            <a:avLst/>
          </a:prstGeom>
          <a:solidFill>
            <a:srgbClr val="B8904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8" name="Texto paso 3"/>
          <p:cNvSpPr txBox="1"/>
          <p:nvPr/>
        </p:nvSpPr>
        <p:spPr>
          <a:xfrm>
            <a:off x="896112" y="2267712"/>
            <a:ext cx="376732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Pulsa </a:t>
            </a:r>
            <a:pPr indent="0" marL="0">
              <a:buNone/>
            </a:pPr>
            <a:r>
              <a:rPr lang="en-US" sz="14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Escanear imagen con IA Vision</a:t>
            </a:r>
            <a:pPr indent="0" marL="0"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400" dirty="0"/>
          </a:p>
        </p:txBody>
      </p:sp>
      <p:sp>
        <p:nvSpPr>
          <p:cNvPr id="9" name="Paso 4"/>
          <p:cNvSpPr txBox="1"/>
          <p:nvPr/>
        </p:nvSpPr>
        <p:spPr>
          <a:xfrm>
            <a:off x="457200" y="2926080"/>
            <a:ext cx="310896" cy="310896"/>
          </a:xfrm>
          <a:prstGeom prst="ellipse">
            <a:avLst/>
          </a:prstGeom>
          <a:solidFill>
            <a:srgbClr val="B8904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10" name="Texto paso 4"/>
          <p:cNvSpPr txBox="1"/>
          <p:nvPr/>
        </p:nvSpPr>
        <p:spPr>
          <a:xfrm>
            <a:off x="896112" y="2871216"/>
            <a:ext cx="376732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Revisa</a:t>
            </a:r>
            <a:pPr indent="0" marL="0"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los ingredientes rellenados.</a:t>
            </a:r>
            <a:endParaRPr lang="en-US" sz="1400" dirty="0"/>
          </a:p>
        </p:txBody>
      </p:sp>
      <p:pic>
        <p:nvPicPr>
          <p:cNvPr id="11" name="Captura 17c" descr="IA con imagen: foto de una receta subida, antes de escanea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37760" y="1005840"/>
            <a:ext cx="3749040" cy="1197610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pic>
      <p:pic>
        <p:nvPicPr>
          <p:cNvPr id="12" name="Captura 17d" descr="IA con imagen: ingredientes rellenados tras «Escanear imagen con IA Vision»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61381" y="2386330"/>
            <a:ext cx="2501798" cy="1737360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B6B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6583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C3A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Elaboración y guardar</a:t>
            </a:r>
            <a:endParaRPr lang="en-US" sz="2600" dirty="0"/>
          </a:p>
        </p:txBody>
      </p:sp>
      <p:sp>
        <p:nvSpPr>
          <p:cNvPr id="3" name="Paso 1"/>
          <p:cNvSpPr txBox="1"/>
          <p:nvPr/>
        </p:nvSpPr>
        <p:spPr>
          <a:xfrm>
            <a:off x="457200" y="1115568"/>
            <a:ext cx="310896" cy="310896"/>
          </a:xfrm>
          <a:prstGeom prst="ellipse">
            <a:avLst/>
          </a:prstGeom>
          <a:solidFill>
            <a:srgbClr val="B8904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4" name="Texto paso 1"/>
          <p:cNvSpPr txBox="1"/>
          <p:nvPr/>
        </p:nvSpPr>
        <p:spPr>
          <a:xfrm>
            <a:off x="896112" y="1060704"/>
            <a:ext cx="376732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Abre </a:t>
            </a:r>
            <a:pPr indent="0" marL="0">
              <a:buNone/>
            </a:pPr>
            <a:r>
              <a:rPr lang="en-US" sz="14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Elaboración y observaciones</a:t>
            </a:r>
            <a:pPr indent="0" marL="0"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y escribe los pasos.</a:t>
            </a:r>
            <a:endParaRPr lang="en-US" sz="1400" dirty="0"/>
          </a:p>
        </p:txBody>
      </p:sp>
      <p:sp>
        <p:nvSpPr>
          <p:cNvPr id="5" name="Paso 2"/>
          <p:cNvSpPr txBox="1"/>
          <p:nvPr/>
        </p:nvSpPr>
        <p:spPr>
          <a:xfrm>
            <a:off x="457200" y="1719072"/>
            <a:ext cx="310896" cy="310896"/>
          </a:xfrm>
          <a:prstGeom prst="ellipse">
            <a:avLst/>
          </a:prstGeom>
          <a:solidFill>
            <a:srgbClr val="B8904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6" name="Texto paso 2"/>
          <p:cNvSpPr txBox="1"/>
          <p:nvPr/>
        </p:nvSpPr>
        <p:spPr>
          <a:xfrm>
            <a:off x="896112" y="1664208"/>
            <a:ext cx="376732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Pulsa </a:t>
            </a:r>
            <a:pPr indent="0" marL="0">
              <a:buNone/>
            </a:pPr>
            <a:r>
              <a:rPr lang="en-US" sz="14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Guardar receta</a:t>
            </a:r>
            <a:pPr indent="0" marL="0"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recibe un código (REC-0023).</a:t>
            </a:r>
            <a:endParaRPr lang="en-US" sz="1400" dirty="0"/>
          </a:p>
        </p:txBody>
      </p:sp>
      <p:sp>
        <p:nvSpPr>
          <p:cNvPr id="7" name="Paso 3"/>
          <p:cNvSpPr txBox="1"/>
          <p:nvPr/>
        </p:nvSpPr>
        <p:spPr>
          <a:xfrm>
            <a:off x="457200" y="2322576"/>
            <a:ext cx="310896" cy="310896"/>
          </a:xfrm>
          <a:prstGeom prst="ellipse">
            <a:avLst/>
          </a:prstGeom>
          <a:solidFill>
            <a:srgbClr val="B8904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8" name="Texto paso 3"/>
          <p:cNvSpPr txBox="1"/>
          <p:nvPr/>
        </p:nvSpPr>
        <p:spPr>
          <a:xfrm>
            <a:off x="896112" y="2267712"/>
            <a:ext cx="376732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Actualizar receta</a:t>
            </a:r>
            <a:pPr indent="0" marL="0"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guarda cambios en la receta cargada.</a:t>
            </a:r>
            <a:endParaRPr lang="en-US" sz="1400" dirty="0"/>
          </a:p>
        </p:txBody>
      </p:sp>
      <p:sp>
        <p:nvSpPr>
          <p:cNvPr id="9" name="Paso 4"/>
          <p:cNvSpPr txBox="1"/>
          <p:nvPr/>
        </p:nvSpPr>
        <p:spPr>
          <a:xfrm>
            <a:off x="457200" y="2926080"/>
            <a:ext cx="310896" cy="310896"/>
          </a:xfrm>
          <a:prstGeom prst="ellipse">
            <a:avLst/>
          </a:prstGeom>
          <a:solidFill>
            <a:srgbClr val="B8904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10" name="Texto paso 4"/>
          <p:cNvSpPr txBox="1"/>
          <p:nvPr/>
        </p:nvSpPr>
        <p:spPr>
          <a:xfrm>
            <a:off x="896112" y="2871216"/>
            <a:ext cx="376732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Duplicar receta</a:t>
            </a:r>
            <a:pPr indent="0" marL="0"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crea una variante con otro código.</a:t>
            </a:r>
            <a:endParaRPr lang="en-US" sz="1400" dirty="0"/>
          </a:p>
        </p:txBody>
      </p:sp>
      <p:pic>
        <p:nvPicPr>
          <p:cNvPr id="11" name="Captura 19" descr="Elaboración y observaciones, y botones de guarda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37760" y="1005840"/>
            <a:ext cx="3749040" cy="3281435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B6B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6583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C3A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Recetas guardadas y ficha técnica</a:t>
            </a:r>
            <a:endParaRPr lang="en-US" sz="2600" dirty="0"/>
          </a:p>
        </p:txBody>
      </p:sp>
      <p:sp>
        <p:nvSpPr>
          <p:cNvPr id="3" name="Paso 1"/>
          <p:cNvSpPr txBox="1"/>
          <p:nvPr/>
        </p:nvSpPr>
        <p:spPr>
          <a:xfrm>
            <a:off x="457200" y="1115568"/>
            <a:ext cx="310896" cy="310896"/>
          </a:xfrm>
          <a:prstGeom prst="ellipse">
            <a:avLst/>
          </a:prstGeom>
          <a:solidFill>
            <a:srgbClr val="B8904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4" name="Texto paso 1"/>
          <p:cNvSpPr txBox="1"/>
          <p:nvPr/>
        </p:nvSpPr>
        <p:spPr>
          <a:xfrm>
            <a:off x="896112" y="1060704"/>
            <a:ext cx="376732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Elige la receta en </a:t>
            </a:r>
            <a:pPr indent="0" marL="0">
              <a:buNone/>
            </a:pPr>
            <a:r>
              <a:rPr lang="en-US" sz="14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Recetas guardadas</a:t>
            </a:r>
            <a:pPr indent="0" marL="0"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400" dirty="0"/>
          </a:p>
        </p:txBody>
      </p:sp>
      <p:sp>
        <p:nvSpPr>
          <p:cNvPr id="5" name="Paso 2"/>
          <p:cNvSpPr txBox="1"/>
          <p:nvPr/>
        </p:nvSpPr>
        <p:spPr>
          <a:xfrm>
            <a:off x="457200" y="1719072"/>
            <a:ext cx="310896" cy="310896"/>
          </a:xfrm>
          <a:prstGeom prst="ellipse">
            <a:avLst/>
          </a:prstGeom>
          <a:solidFill>
            <a:srgbClr val="B8904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6" name="Texto paso 2"/>
          <p:cNvSpPr txBox="1"/>
          <p:nvPr/>
        </p:nvSpPr>
        <p:spPr>
          <a:xfrm>
            <a:off x="896112" y="1664208"/>
            <a:ext cx="376732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Pulsa </a:t>
            </a:r>
            <a:pPr indent="0" marL="0">
              <a:buNone/>
            </a:pPr>
            <a:r>
              <a:rPr lang="en-US" sz="14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Cargar receta</a:t>
            </a:r>
            <a:pPr indent="0" marL="0"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400" dirty="0"/>
          </a:p>
        </p:txBody>
      </p:sp>
      <p:sp>
        <p:nvSpPr>
          <p:cNvPr id="7" name="Paso 3"/>
          <p:cNvSpPr txBox="1"/>
          <p:nvPr/>
        </p:nvSpPr>
        <p:spPr>
          <a:xfrm>
            <a:off x="457200" y="2322576"/>
            <a:ext cx="310896" cy="310896"/>
          </a:xfrm>
          <a:prstGeom prst="ellipse">
            <a:avLst/>
          </a:prstGeom>
          <a:solidFill>
            <a:srgbClr val="B8904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8" name="Texto paso 3"/>
          <p:cNvSpPr txBox="1"/>
          <p:nvPr/>
        </p:nvSpPr>
        <p:spPr>
          <a:xfrm>
            <a:off x="896112" y="2267712"/>
            <a:ext cx="376732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Pulsa </a:t>
            </a:r>
            <a:pPr indent="0" marL="0">
              <a:buNone/>
            </a:pPr>
            <a:r>
              <a:rPr lang="en-US" sz="14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Descargar ficha Excel</a:t>
            </a:r>
            <a:pPr indent="0" marL="0"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para la ficha técnica.</a:t>
            </a:r>
            <a:endParaRPr lang="en-US" sz="1400" dirty="0"/>
          </a:p>
        </p:txBody>
      </p:sp>
      <p:sp>
        <p:nvSpPr>
          <p:cNvPr id="9" name="Paso 4"/>
          <p:cNvSpPr txBox="1"/>
          <p:nvPr/>
        </p:nvSpPr>
        <p:spPr>
          <a:xfrm>
            <a:off x="457200" y="2926080"/>
            <a:ext cx="310896" cy="310896"/>
          </a:xfrm>
          <a:prstGeom prst="ellipse">
            <a:avLst/>
          </a:prstGeom>
          <a:solidFill>
            <a:srgbClr val="B8904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10" name="Texto paso 4"/>
          <p:cNvSpPr txBox="1"/>
          <p:nvPr/>
        </p:nvSpPr>
        <p:spPr>
          <a:xfrm>
            <a:off x="896112" y="2871216"/>
            <a:ext cx="376732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Borrar: </a:t>
            </a:r>
            <a:pPr indent="0" marL="0">
              <a:buNone/>
            </a:pPr>
            <a:r>
              <a:rPr lang="en-US" sz="14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Mantenimiento</a:t>
            </a:r>
            <a:pPr indent="0" marL="0"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→ escribe ELIMINAR.</a:t>
            </a:r>
            <a:endParaRPr lang="en-US" sz="1400" dirty="0"/>
          </a:p>
        </p:txBody>
      </p:sp>
      <p:pic>
        <p:nvPicPr>
          <p:cNvPr id="11" name="Captura 20" descr="Recetas guardadas con el selector desplegad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123873" y="1005840"/>
            <a:ext cx="3376815" cy="3657600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B6B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6583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C3A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ficha técnica en Excel</a:t>
            </a:r>
            <a:endParaRPr lang="en-US" sz="2600" dirty="0"/>
          </a:p>
        </p:txBody>
      </p:sp>
      <p:sp>
        <p:nvSpPr>
          <p:cNvPr id="3" name="Puntos"/>
          <p:cNvSpPr txBox="1"/>
          <p:nvPr/>
        </p:nvSpPr>
        <p:spPr>
          <a:xfrm>
            <a:off x="457200" y="109728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200"/>
              </a:spcAft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ingrediente: código, cantidad bruta, </a:t>
            </a:r>
            <a:pPr indent="0" marL="0">
              <a:spcAft>
                <a:spcPts val="1200"/>
              </a:spcAft>
              <a:buNone/>
            </a:pPr>
            <a:r>
              <a:rPr lang="en-US" sz="14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merma</a:t>
            </a:r>
            <a:pPr indent="0" marL="0">
              <a:spcAft>
                <a:spcPts val="1200"/>
              </a:spcAft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cantidad neta, precio y coste.</a:t>
            </a:r>
            <a:endParaRPr lang="en-US" sz="14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 final: costes indirectos, beneficio, IVA y </a:t>
            </a:r>
            <a:pPr indent="0" marL="0">
              <a:spcAft>
                <a:spcPts val="1200"/>
              </a:spcAft>
              <a:buNone/>
            </a:pPr>
            <a:r>
              <a:rPr lang="en-US" sz="14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precio por ración</a:t>
            </a:r>
            <a:pPr indent="0" marL="0">
              <a:spcAft>
                <a:spcPts val="1200"/>
              </a:spcAft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400" dirty="0"/>
          </a:p>
        </p:txBody>
      </p:sp>
      <p:pic>
        <p:nvPicPr>
          <p:cNvPr id="4" name="Captura 22b" descr="Ficha técnica abierta en Exce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85108" y="1874520"/>
            <a:ext cx="6773783" cy="2788920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B6B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6583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C3A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Qué recetas ves y cuáles modificas</a:t>
            </a:r>
            <a:endParaRPr lang="en-US" sz="2600" dirty="0"/>
          </a:p>
        </p:txBody>
      </p:sp>
      <p:sp>
        <p:nvSpPr>
          <p:cNvPr id="3" name="Puntos"/>
          <p:cNvSpPr txBox="1"/>
          <p:nvPr/>
        </p:nvSpPr>
        <p:spPr>
          <a:xfrm>
            <a:off x="457200" y="1097280"/>
            <a:ext cx="420624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2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Ves </a:t>
            </a:r>
            <a:pPr indent="0" marL="0">
              <a:spcAft>
                <a:spcPts val="1200"/>
              </a:spcAft>
              <a:buNone/>
            </a:pPr>
            <a:r>
              <a:rPr lang="en-US" sz="13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tus recetas</a:t>
            </a:r>
            <a:pPr indent="0" marL="0">
              <a:spcAft>
                <a:spcPts val="12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las que están en algún </a:t>
            </a:r>
            <a:pPr indent="0" marL="0">
              <a:spcAft>
                <a:spcPts val="1200"/>
              </a:spcAft>
              <a:buNone/>
            </a:pPr>
            <a:r>
              <a:rPr lang="en-US" sz="13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menú</a:t>
            </a:r>
            <a:pPr indent="0" marL="0">
              <a:spcAft>
                <a:spcPts val="12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y aquellas a las que te dé acceso el gerente.</a:t>
            </a:r>
            <a:endParaRPr lang="en-US" sz="13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ajenas salen como «de otro chef» o «de otro chef (</a:t>
            </a:r>
            <a:pPr indent="0" marL="0">
              <a:spcAft>
                <a:spcPts val="1200"/>
              </a:spcAft>
              <a:buNone/>
            </a:pPr>
            <a:r>
              <a:rPr lang="en-US" sz="13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solo lectura</a:t>
            </a:r>
            <a:pPr indent="0" marL="0">
              <a:spcAft>
                <a:spcPts val="12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)».</a:t>
            </a:r>
            <a:endParaRPr lang="en-US" sz="13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solo lectura, </a:t>
            </a:r>
            <a:pPr indent="0" marL="0">
              <a:spcAft>
                <a:spcPts val="1200"/>
              </a:spcAft>
              <a:buNone/>
            </a:pPr>
            <a:r>
              <a:rPr lang="en-US" sz="13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Actualizar receta</a:t>
            </a:r>
            <a:pPr indent="0" marL="0">
              <a:spcAft>
                <a:spcPts val="12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está desactivado: usa </a:t>
            </a:r>
            <a:pPr indent="0" marL="0">
              <a:spcAft>
                <a:spcPts val="1200"/>
              </a:spcAft>
              <a:buNone/>
            </a:pPr>
            <a:r>
              <a:rPr lang="en-US" sz="13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Guardar</a:t>
            </a:r>
            <a:pPr indent="0" marL="0">
              <a:spcAft>
                <a:spcPts val="12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 </a:t>
            </a:r>
            <a:pPr indent="0" marL="0">
              <a:spcAft>
                <a:spcPts val="1200"/>
              </a:spcAft>
              <a:buNone/>
            </a:pPr>
            <a:r>
              <a:rPr lang="en-US" sz="13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Duplicar</a:t>
            </a:r>
            <a:pPr indent="0" marL="0">
              <a:spcAft>
                <a:spcPts val="12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para tener tu copia.</a:t>
            </a:r>
            <a:endParaRPr lang="en-US" sz="13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Borrar: solo el </a:t>
            </a:r>
            <a:pPr indent="0" marL="0">
              <a:spcAft>
                <a:spcPts val="1200"/>
              </a:spcAft>
              <a:buNone/>
            </a:pPr>
            <a:r>
              <a:rPr lang="en-US" sz="13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propietario</a:t>
            </a:r>
            <a:pPr indent="0" marL="0">
              <a:spcAft>
                <a:spcPts val="12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 el </a:t>
            </a:r>
            <a:pPr indent="0" marL="0">
              <a:spcAft>
                <a:spcPts val="1200"/>
              </a:spcAft>
              <a:buNone/>
            </a:pPr>
            <a:r>
              <a:rPr lang="en-US" sz="13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gerente</a:t>
            </a:r>
            <a:pPr indent="0" marL="0">
              <a:spcAft>
                <a:spcPts val="12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300" dirty="0"/>
          </a:p>
        </p:txBody>
      </p:sp>
      <p:pic>
        <p:nvPicPr>
          <p:cNvPr id="4" name="Captura 24a" descr="Recetas de otros chefs marcadas «de otro chef (solo lectura)»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37760" y="1005840"/>
            <a:ext cx="3749040" cy="1108871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pic>
      <p:pic>
        <p:nvPicPr>
          <p:cNvPr id="5" name="Captura 24b" descr="Receta en solo lectura: «Actualizar receta» desactivad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54315" y="2297591"/>
            <a:ext cx="3315929" cy="1737360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B6B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6583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C3A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Recetas compartidas con mi organización</a:t>
            </a:r>
            <a:endParaRPr lang="en-US" sz="2600" dirty="0"/>
          </a:p>
        </p:txBody>
      </p:sp>
      <p:sp>
        <p:nvSpPr>
          <p:cNvPr id="3" name="Etiqueta solo gerente"/>
          <p:cNvSpPr txBox="1"/>
          <p:nvPr/>
        </p:nvSpPr>
        <p:spPr>
          <a:xfrm>
            <a:off x="7498080" y="438912"/>
            <a:ext cx="1188720" cy="274320"/>
          </a:xfrm>
          <a:prstGeom prst="roundRect">
            <a:avLst>
              <a:gd name="adj" fmla="val 20000"/>
            </a:avLst>
          </a:prstGeom>
          <a:solidFill>
            <a:srgbClr val="5C3A2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SOLO GERENTE</a:t>
            </a:r>
            <a:endParaRPr lang="en-US" sz="1000" dirty="0"/>
          </a:p>
        </p:txBody>
      </p:sp>
      <p:sp>
        <p:nvSpPr>
          <p:cNvPr id="4" name="Paso 1"/>
          <p:cNvSpPr txBox="1"/>
          <p:nvPr/>
        </p:nvSpPr>
        <p:spPr>
          <a:xfrm>
            <a:off x="457200" y="1115568"/>
            <a:ext cx="310896" cy="310896"/>
          </a:xfrm>
          <a:prstGeom prst="ellipse">
            <a:avLst/>
          </a:prstGeom>
          <a:solidFill>
            <a:srgbClr val="B8904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5" name="Texto paso 1"/>
          <p:cNvSpPr txBox="1"/>
          <p:nvPr/>
        </p:nvSpPr>
        <p:spPr>
          <a:xfrm>
            <a:off x="896112" y="1060704"/>
            <a:ext cx="376732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Abre la receta compartida y pulsa </a:t>
            </a:r>
            <a:pPr indent="0" marL="0">
              <a:buNone/>
            </a:pPr>
            <a:r>
              <a:rPr lang="en-US" sz="14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 y copiar</a:t>
            </a:r>
            <a:pPr indent="0" marL="0"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400" dirty="0"/>
          </a:p>
        </p:txBody>
      </p:sp>
      <p:sp>
        <p:nvSpPr>
          <p:cNvPr id="6" name="Paso 2"/>
          <p:cNvSpPr txBox="1"/>
          <p:nvPr/>
        </p:nvSpPr>
        <p:spPr>
          <a:xfrm>
            <a:off x="457200" y="1719072"/>
            <a:ext cx="310896" cy="310896"/>
          </a:xfrm>
          <a:prstGeom prst="ellipse">
            <a:avLst/>
          </a:prstGeom>
          <a:solidFill>
            <a:srgbClr val="B8904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7" name="Texto paso 2"/>
          <p:cNvSpPr txBox="1"/>
          <p:nvPr/>
        </p:nvSpPr>
        <p:spPr>
          <a:xfrm>
            <a:off x="896112" y="1664208"/>
            <a:ext cx="376732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Revisa la vista previa (sin precios de origen).</a:t>
            </a:r>
            <a:endParaRPr lang="en-US" sz="1400" dirty="0"/>
          </a:p>
        </p:txBody>
      </p:sp>
      <p:sp>
        <p:nvSpPr>
          <p:cNvPr id="8" name="Paso 3"/>
          <p:cNvSpPr txBox="1"/>
          <p:nvPr/>
        </p:nvSpPr>
        <p:spPr>
          <a:xfrm>
            <a:off x="457200" y="2322576"/>
            <a:ext cx="310896" cy="310896"/>
          </a:xfrm>
          <a:prstGeom prst="ellipse">
            <a:avLst/>
          </a:prstGeom>
          <a:solidFill>
            <a:srgbClr val="B8904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9" name="Texto paso 3"/>
          <p:cNvSpPr txBox="1"/>
          <p:nvPr/>
        </p:nvSpPr>
        <p:spPr>
          <a:xfrm>
            <a:off x="896112" y="2267712"/>
            <a:ext cx="376732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Pulsa </a:t>
            </a:r>
            <a:pPr indent="0" marL="0">
              <a:buNone/>
            </a:pPr>
            <a:r>
              <a:rPr lang="en-US" sz="14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Copiar a mi organización</a:t>
            </a:r>
            <a:pPr indent="0" marL="0"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400" dirty="0"/>
          </a:p>
        </p:txBody>
      </p:sp>
      <p:sp>
        <p:nvSpPr>
          <p:cNvPr id="10" name="Paso 4"/>
          <p:cNvSpPr txBox="1"/>
          <p:nvPr/>
        </p:nvSpPr>
        <p:spPr>
          <a:xfrm>
            <a:off x="457200" y="2926080"/>
            <a:ext cx="310896" cy="310896"/>
          </a:xfrm>
          <a:prstGeom prst="ellipse">
            <a:avLst/>
          </a:prstGeom>
          <a:solidFill>
            <a:srgbClr val="B8904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11" name="Texto paso 4"/>
          <p:cNvSpPr txBox="1"/>
          <p:nvPr/>
        </p:nvSpPr>
        <p:spPr>
          <a:xfrm>
            <a:off x="896112" y="2871216"/>
            <a:ext cx="376732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Revisa precios y PVP: los márgenes no se copian.</a:t>
            </a:r>
            <a:endParaRPr lang="en-US" sz="1400" dirty="0"/>
          </a:p>
        </p:txBody>
      </p:sp>
      <p:sp>
        <p:nvSpPr>
          <p:cNvPr id="12" name="Aviso"/>
          <p:cNvSpPr/>
          <p:nvPr/>
        </p:nvSpPr>
        <p:spPr>
          <a:xfrm>
            <a:off x="457200" y="3931920"/>
            <a:ext cx="4206240" cy="685800"/>
          </a:xfrm>
          <a:prstGeom prst="roundRect">
            <a:avLst>
              <a:gd name="adj" fmla="val 10667"/>
            </a:avLst>
          </a:prstGeom>
          <a:solidFill>
            <a:srgbClr val="FBF3E4"/>
          </a:solidFill>
          <a:ln w="15875">
            <a:solidFill>
              <a:srgbClr val="A93226"/>
            </a:solidFill>
            <a:prstDash val="solid"/>
          </a:ln>
        </p:spPr>
      </p:sp>
      <p:sp>
        <p:nvSpPr>
          <p:cNvPr id="13" name="Icono aviso"/>
          <p:cNvSpPr txBox="1"/>
          <p:nvPr/>
        </p:nvSpPr>
        <p:spPr>
          <a:xfrm>
            <a:off x="594360" y="4119372"/>
            <a:ext cx="310896" cy="310896"/>
          </a:xfrm>
          <a:prstGeom prst="ellipse">
            <a:avLst/>
          </a:prstGeom>
          <a:solidFill>
            <a:srgbClr val="A9322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!</a:t>
            </a:r>
            <a:endParaRPr lang="en-US" sz="1400" dirty="0"/>
          </a:p>
        </p:txBody>
      </p:sp>
      <p:sp>
        <p:nvSpPr>
          <p:cNvPr id="14" name="Texto aviso"/>
          <p:cNvSpPr txBox="1"/>
          <p:nvPr/>
        </p:nvSpPr>
        <p:spPr>
          <a:xfrm>
            <a:off x="1024128" y="3931920"/>
            <a:ext cx="3520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ingredientes privados copiados llegan con alérgenos </a:t>
            </a:r>
            <a:pPr indent="0" marL="0">
              <a:buNone/>
            </a:pPr>
            <a:r>
              <a:rPr lang="en-US" sz="12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pendientes de revisión</a:t>
            </a:r>
            <a:pPr indent="0" marL="0">
              <a:buNone/>
            </a:pPr>
            <a:r>
              <a:rPr lang="en-US" sz="12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200" dirty="0"/>
          </a:p>
        </p:txBody>
      </p:sp>
      <p:pic>
        <p:nvPicPr>
          <p:cNvPr id="15" name="Captura 23" descr="Recetas compartidas con mi organización y su vista previ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32575" y="1005840"/>
            <a:ext cx="3559409" cy="3657600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B6B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40080" y="1188720"/>
            <a:ext cx="2743200" cy="12801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7200" b="1" dirty="0">
                <a:solidFill>
                  <a:srgbClr val="E8CD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7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2514600"/>
            <a:ext cx="7863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Menús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40080" y="333756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E8CD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Combina recetas, consulta alérgenos y descarga fichas</a:t>
            </a:r>
            <a:endParaRPr lang="en-US" sz="16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6583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C3A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Crear un menú</a:t>
            </a:r>
            <a:endParaRPr lang="en-US" sz="2600" dirty="0"/>
          </a:p>
        </p:txBody>
      </p:sp>
      <p:sp>
        <p:nvSpPr>
          <p:cNvPr id="3" name="Paso 1"/>
          <p:cNvSpPr txBox="1"/>
          <p:nvPr/>
        </p:nvSpPr>
        <p:spPr>
          <a:xfrm>
            <a:off x="457200" y="1115568"/>
            <a:ext cx="310896" cy="310896"/>
          </a:xfrm>
          <a:prstGeom prst="ellipse">
            <a:avLst/>
          </a:prstGeom>
          <a:solidFill>
            <a:srgbClr val="B8904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4" name="Texto paso 1"/>
          <p:cNvSpPr txBox="1"/>
          <p:nvPr/>
        </p:nvSpPr>
        <p:spPr>
          <a:xfrm>
            <a:off x="896112" y="1060704"/>
            <a:ext cx="376732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Pestaña </a:t>
            </a:r>
            <a:pPr indent="0" marL="0">
              <a:buNone/>
            </a:pPr>
            <a:r>
              <a:rPr lang="en-US" sz="14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Menús</a:t>
            </a:r>
            <a:pPr indent="0" marL="0"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nombre, </a:t>
            </a:r>
            <a:pPr indent="0" marL="0">
              <a:buNone/>
            </a:pPr>
            <a:r>
              <a:rPr lang="en-US" sz="14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menú</a:t>
            </a:r>
            <a:pPr indent="0" marL="0"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y </a:t>
            </a:r>
            <a:pPr indent="0" marL="0">
              <a:buNone/>
            </a:pPr>
            <a:r>
              <a:rPr lang="en-US" sz="14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Pax de referencia</a:t>
            </a:r>
            <a:pPr indent="0" marL="0"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400" dirty="0"/>
          </a:p>
        </p:txBody>
      </p:sp>
      <p:sp>
        <p:nvSpPr>
          <p:cNvPr id="5" name="Paso 2"/>
          <p:cNvSpPr txBox="1"/>
          <p:nvPr/>
        </p:nvSpPr>
        <p:spPr>
          <a:xfrm>
            <a:off x="457200" y="1719072"/>
            <a:ext cx="310896" cy="310896"/>
          </a:xfrm>
          <a:prstGeom prst="ellipse">
            <a:avLst/>
          </a:prstGeom>
          <a:solidFill>
            <a:srgbClr val="B8904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6" name="Texto paso 2"/>
          <p:cNvSpPr txBox="1"/>
          <p:nvPr/>
        </p:nvSpPr>
        <p:spPr>
          <a:xfrm>
            <a:off x="896112" y="1664208"/>
            <a:ext cx="376732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Elige receta, </a:t>
            </a:r>
            <a:pPr indent="0" marL="0">
              <a:buNone/>
            </a:pPr>
            <a:r>
              <a:rPr lang="en-US" sz="14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Raciones</a:t>
            </a:r>
            <a:pPr indent="0" marL="0"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y </a:t>
            </a:r>
            <a:pPr indent="0" marL="0">
              <a:buNone/>
            </a:pPr>
            <a:r>
              <a:rPr lang="en-US" sz="14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Sección</a:t>
            </a:r>
            <a:pPr indent="0" marL="0"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400" dirty="0"/>
          </a:p>
        </p:txBody>
      </p:sp>
      <p:sp>
        <p:nvSpPr>
          <p:cNvPr id="7" name="Paso 3"/>
          <p:cNvSpPr txBox="1"/>
          <p:nvPr/>
        </p:nvSpPr>
        <p:spPr>
          <a:xfrm>
            <a:off x="457200" y="2322576"/>
            <a:ext cx="310896" cy="310896"/>
          </a:xfrm>
          <a:prstGeom prst="ellipse">
            <a:avLst/>
          </a:prstGeom>
          <a:solidFill>
            <a:srgbClr val="B8904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8" name="Texto paso 3"/>
          <p:cNvSpPr txBox="1"/>
          <p:nvPr/>
        </p:nvSpPr>
        <p:spPr>
          <a:xfrm>
            <a:off x="896112" y="2267712"/>
            <a:ext cx="376732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Pulsa </a:t>
            </a:r>
            <a:pPr indent="0" marL="0">
              <a:buNone/>
            </a:pPr>
            <a:r>
              <a:rPr lang="en-US" sz="14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Añadir receta al menú</a:t>
            </a:r>
            <a:pPr indent="0" marL="0"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400" dirty="0"/>
          </a:p>
        </p:txBody>
      </p:sp>
      <p:sp>
        <p:nvSpPr>
          <p:cNvPr id="9" name="Paso 4"/>
          <p:cNvSpPr txBox="1"/>
          <p:nvPr/>
        </p:nvSpPr>
        <p:spPr>
          <a:xfrm>
            <a:off x="457200" y="2926080"/>
            <a:ext cx="310896" cy="310896"/>
          </a:xfrm>
          <a:prstGeom prst="ellipse">
            <a:avLst/>
          </a:prstGeom>
          <a:solidFill>
            <a:srgbClr val="B8904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10" name="Texto paso 4"/>
          <p:cNvSpPr txBox="1"/>
          <p:nvPr/>
        </p:nvSpPr>
        <p:spPr>
          <a:xfrm>
            <a:off x="896112" y="2871216"/>
            <a:ext cx="376732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Ordena con </a:t>
            </a:r>
            <a:pPr indent="0" marL="0">
              <a:buNone/>
            </a:pPr>
            <a:r>
              <a:rPr lang="en-US" sz="14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Subir</a:t>
            </a:r>
            <a:pPr indent="0" marL="0"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/ </a:t>
            </a:r>
            <a:pPr indent="0" marL="0">
              <a:buNone/>
            </a:pPr>
            <a:r>
              <a:rPr lang="en-US" sz="14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Bajar</a:t>
            </a:r>
            <a:pPr indent="0" marL="0"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; </a:t>
            </a:r>
            <a:pPr indent="0" marL="0">
              <a:buNone/>
            </a:pPr>
            <a:r>
              <a:rPr lang="en-US" sz="14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Quitar del menú</a:t>
            </a:r>
            <a:pPr indent="0" marL="0"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para quitar.</a:t>
            </a:r>
            <a:endParaRPr lang="en-US" sz="1400" dirty="0"/>
          </a:p>
        </p:txBody>
      </p:sp>
      <p:pic>
        <p:nvPicPr>
          <p:cNvPr id="11" name="Captura 30" descr="Menú con recetas añadidas y acciones por plat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71312" y="1005840"/>
            <a:ext cx="2881937" cy="3657600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B6B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6583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C3A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Alérgenos, fichas y guardar</a:t>
            </a:r>
            <a:endParaRPr lang="en-US" sz="2600" dirty="0"/>
          </a:p>
        </p:txBody>
      </p:sp>
      <p:sp>
        <p:nvSpPr>
          <p:cNvPr id="3" name="Puntos"/>
          <p:cNvSpPr txBox="1"/>
          <p:nvPr/>
        </p:nvSpPr>
        <p:spPr>
          <a:xfrm>
            <a:off x="457200" y="1097280"/>
            <a:ext cx="420624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200"/>
              </a:spcAft>
              <a:buNone/>
            </a:pPr>
            <a:r>
              <a:rPr lang="en-US" sz="14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Alérgenos del menú</a:t>
            </a:r>
            <a:pPr indent="0" marL="0">
              <a:spcAft>
                <a:spcPts val="1200"/>
              </a:spcAft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los de todas sus recetas.</a:t>
            </a:r>
            <a:endParaRPr lang="en-US" sz="14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4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Descargar fichas técnicas del menú</a:t>
            </a:r>
            <a:pPr indent="0" marL="0">
              <a:spcAft>
                <a:spcPts val="1200"/>
              </a:spcAft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en Excel.</a:t>
            </a:r>
            <a:endParaRPr lang="en-US" sz="14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4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Guardar menú</a:t>
            </a:r>
            <a:pPr indent="0" marL="0">
              <a:spcAft>
                <a:spcPts val="1200"/>
              </a:spcAft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pPr indent="0" marL="0">
              <a:spcAft>
                <a:spcPts val="1200"/>
              </a:spcAft>
              <a:buNone/>
            </a:pPr>
            <a:r>
              <a:rPr lang="en-US" sz="14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Actualizar menú seleccionado</a:t>
            </a:r>
            <a:pPr indent="0" marL="0">
              <a:spcAft>
                <a:spcPts val="1200"/>
              </a:spcAft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 </a:t>
            </a:r>
            <a:pPr indent="0" marL="0">
              <a:spcAft>
                <a:spcPts val="1200"/>
              </a:spcAft>
              <a:buNone/>
            </a:pPr>
            <a:r>
              <a:rPr lang="en-US" sz="14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Duplicar menú seleccionado</a:t>
            </a:r>
            <a:pPr indent="0" marL="0">
              <a:spcAft>
                <a:spcPts val="1200"/>
              </a:spcAft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4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4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Limpiar menú actual</a:t>
            </a:r>
            <a:pPr indent="0" marL="0">
              <a:spcAft>
                <a:spcPts val="1200"/>
              </a:spcAft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vacía la pantalla, no borra nada.</a:t>
            </a:r>
            <a:endParaRPr lang="en-US" sz="1400" dirty="0"/>
          </a:p>
        </p:txBody>
      </p:sp>
      <p:pic>
        <p:nvPicPr>
          <p:cNvPr id="4" name="Captura 31" descr="Alérgenos del menú, descarga de fichas y botones de guarda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37760" y="1005840"/>
            <a:ext cx="3749040" cy="2132933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B6B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6583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C3A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Abrir un menú guardado</a:t>
            </a:r>
            <a:endParaRPr lang="en-US" sz="2600" dirty="0"/>
          </a:p>
        </p:txBody>
      </p:sp>
      <p:sp>
        <p:nvSpPr>
          <p:cNvPr id="3" name="Paso 1"/>
          <p:cNvSpPr txBox="1"/>
          <p:nvPr/>
        </p:nvSpPr>
        <p:spPr>
          <a:xfrm>
            <a:off x="457200" y="1115568"/>
            <a:ext cx="310896" cy="310896"/>
          </a:xfrm>
          <a:prstGeom prst="ellipse">
            <a:avLst/>
          </a:prstGeom>
          <a:solidFill>
            <a:srgbClr val="B8904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4" name="Texto paso 1"/>
          <p:cNvSpPr txBox="1"/>
          <p:nvPr/>
        </p:nvSpPr>
        <p:spPr>
          <a:xfrm>
            <a:off x="896112" y="1060704"/>
            <a:ext cx="376732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Abre </a:t>
            </a:r>
            <a:pPr indent="0" marL="0">
              <a:buNone/>
            </a:pPr>
            <a:r>
              <a:rPr lang="en-US" sz="14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Menús guardados</a:t>
            </a:r>
            <a:pPr indent="0" marL="0"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400" dirty="0"/>
          </a:p>
        </p:txBody>
      </p:sp>
      <p:sp>
        <p:nvSpPr>
          <p:cNvPr id="5" name="Paso 2"/>
          <p:cNvSpPr txBox="1"/>
          <p:nvPr/>
        </p:nvSpPr>
        <p:spPr>
          <a:xfrm>
            <a:off x="457200" y="1719072"/>
            <a:ext cx="310896" cy="310896"/>
          </a:xfrm>
          <a:prstGeom prst="ellipse">
            <a:avLst/>
          </a:prstGeom>
          <a:solidFill>
            <a:srgbClr val="B8904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6" name="Texto paso 2"/>
          <p:cNvSpPr txBox="1"/>
          <p:nvPr/>
        </p:nvSpPr>
        <p:spPr>
          <a:xfrm>
            <a:off x="896112" y="1664208"/>
            <a:ext cx="376732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Elige el menú y pulsa </a:t>
            </a:r>
            <a:pPr indent="0" marL="0">
              <a:buNone/>
            </a:pPr>
            <a:r>
              <a:rPr lang="en-US" sz="14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Cargar menú</a:t>
            </a:r>
            <a:pPr indent="0" marL="0"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400" dirty="0"/>
          </a:p>
        </p:txBody>
      </p:sp>
      <p:sp>
        <p:nvSpPr>
          <p:cNvPr id="7" name="Paso 3"/>
          <p:cNvSpPr txBox="1"/>
          <p:nvPr/>
        </p:nvSpPr>
        <p:spPr>
          <a:xfrm>
            <a:off x="457200" y="2322576"/>
            <a:ext cx="310896" cy="310896"/>
          </a:xfrm>
          <a:prstGeom prst="ellipse">
            <a:avLst/>
          </a:prstGeom>
          <a:solidFill>
            <a:srgbClr val="B8904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8" name="Texto paso 3"/>
          <p:cNvSpPr txBox="1"/>
          <p:nvPr/>
        </p:nvSpPr>
        <p:spPr>
          <a:xfrm>
            <a:off x="896112" y="2267712"/>
            <a:ext cx="376732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Borrar: </a:t>
            </a:r>
            <a:pPr indent="0" marL="0">
              <a:buNone/>
            </a:pPr>
            <a:r>
              <a:rPr lang="en-US" sz="14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Eliminar menú</a:t>
            </a:r>
            <a:pPr indent="0" marL="0"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→ escribe ELIMINAR.</a:t>
            </a:r>
            <a:endParaRPr lang="en-US" sz="1400" dirty="0"/>
          </a:p>
        </p:txBody>
      </p:sp>
      <p:pic>
        <p:nvPicPr>
          <p:cNvPr id="9" name="Captura 33" descr="Cargar un menú guardad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95407" y="1005840"/>
            <a:ext cx="3633746" cy="3657600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B6B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40080" y="1188720"/>
            <a:ext cx="2743200" cy="12801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7200" b="1" dirty="0">
                <a:solidFill>
                  <a:srgbClr val="E8CD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7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2514600"/>
            <a:ext cx="7863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Clientes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40080" y="333756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E8CD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fichas que usarás en presupuestos y facturas</a:t>
            </a:r>
            <a:endParaRPr lang="en-US" sz="16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6583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C3A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Crear un cliente</a:t>
            </a:r>
            <a:endParaRPr lang="en-US" sz="2600" dirty="0"/>
          </a:p>
        </p:txBody>
      </p:sp>
      <p:sp>
        <p:nvSpPr>
          <p:cNvPr id="3" name="Paso 1"/>
          <p:cNvSpPr txBox="1"/>
          <p:nvPr/>
        </p:nvSpPr>
        <p:spPr>
          <a:xfrm>
            <a:off x="457200" y="1115568"/>
            <a:ext cx="310896" cy="310896"/>
          </a:xfrm>
          <a:prstGeom prst="ellipse">
            <a:avLst/>
          </a:prstGeom>
          <a:solidFill>
            <a:srgbClr val="B8904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4" name="Texto paso 1"/>
          <p:cNvSpPr txBox="1"/>
          <p:nvPr/>
        </p:nvSpPr>
        <p:spPr>
          <a:xfrm>
            <a:off x="896112" y="1060704"/>
            <a:ext cx="376732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Pestaña </a:t>
            </a:r>
            <a:pPr indent="0" marL="0">
              <a:buNone/>
            </a:pPr>
            <a:r>
              <a:rPr lang="en-US" sz="14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Clientes</a:t>
            </a:r>
            <a:pPr indent="0" marL="0"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→ </a:t>
            </a:r>
            <a:pPr indent="0" marL="0">
              <a:buNone/>
            </a:pPr>
            <a:r>
              <a:rPr lang="en-US" sz="14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Nuevo cliente</a:t>
            </a:r>
            <a:pPr indent="0" marL="0"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400" dirty="0"/>
          </a:p>
        </p:txBody>
      </p:sp>
      <p:sp>
        <p:nvSpPr>
          <p:cNvPr id="5" name="Paso 2"/>
          <p:cNvSpPr txBox="1"/>
          <p:nvPr/>
        </p:nvSpPr>
        <p:spPr>
          <a:xfrm>
            <a:off x="457200" y="1719072"/>
            <a:ext cx="310896" cy="310896"/>
          </a:xfrm>
          <a:prstGeom prst="ellipse">
            <a:avLst/>
          </a:prstGeom>
          <a:solidFill>
            <a:srgbClr val="B8904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6" name="Texto paso 2"/>
          <p:cNvSpPr txBox="1"/>
          <p:nvPr/>
        </p:nvSpPr>
        <p:spPr>
          <a:xfrm>
            <a:off x="896112" y="1664208"/>
            <a:ext cx="376732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Rellena nombre, NIF/CIF, contacto y dirección.</a:t>
            </a:r>
            <a:endParaRPr lang="en-US" sz="1400" dirty="0"/>
          </a:p>
        </p:txBody>
      </p:sp>
      <p:sp>
        <p:nvSpPr>
          <p:cNvPr id="7" name="Paso 3"/>
          <p:cNvSpPr txBox="1"/>
          <p:nvPr/>
        </p:nvSpPr>
        <p:spPr>
          <a:xfrm>
            <a:off x="457200" y="2322576"/>
            <a:ext cx="310896" cy="310896"/>
          </a:xfrm>
          <a:prstGeom prst="ellipse">
            <a:avLst/>
          </a:prstGeom>
          <a:solidFill>
            <a:srgbClr val="B8904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8" name="Texto paso 3"/>
          <p:cNvSpPr txBox="1"/>
          <p:nvPr/>
        </p:nvSpPr>
        <p:spPr>
          <a:xfrm>
            <a:off x="896112" y="2267712"/>
            <a:ext cx="376732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Pulsa </a:t>
            </a:r>
            <a:pPr indent="0" marL="0">
              <a:buNone/>
            </a:pPr>
            <a:r>
              <a:rPr lang="en-US" sz="14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Guardar cliente</a:t>
            </a:r>
            <a:pPr indent="0" marL="0"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400" dirty="0"/>
          </a:p>
        </p:txBody>
      </p:sp>
      <p:sp>
        <p:nvSpPr>
          <p:cNvPr id="9" name="Aviso"/>
          <p:cNvSpPr/>
          <p:nvPr/>
        </p:nvSpPr>
        <p:spPr>
          <a:xfrm>
            <a:off x="457200" y="3931920"/>
            <a:ext cx="4206240" cy="685800"/>
          </a:xfrm>
          <a:prstGeom prst="roundRect">
            <a:avLst>
              <a:gd name="adj" fmla="val 10667"/>
            </a:avLst>
          </a:prstGeom>
          <a:solidFill>
            <a:srgbClr val="FBF3E4"/>
          </a:solidFill>
          <a:ln w="15875">
            <a:solidFill>
              <a:srgbClr val="A93226"/>
            </a:solidFill>
            <a:prstDash val="solid"/>
          </a:ln>
        </p:spPr>
      </p:sp>
      <p:sp>
        <p:nvSpPr>
          <p:cNvPr id="10" name="Icono aviso"/>
          <p:cNvSpPr txBox="1"/>
          <p:nvPr/>
        </p:nvSpPr>
        <p:spPr>
          <a:xfrm>
            <a:off x="594360" y="4119372"/>
            <a:ext cx="310896" cy="310896"/>
          </a:xfrm>
          <a:prstGeom prst="ellipse">
            <a:avLst/>
          </a:prstGeom>
          <a:solidFill>
            <a:srgbClr val="A9322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!</a:t>
            </a:r>
            <a:endParaRPr lang="en-US" sz="1400" dirty="0"/>
          </a:p>
        </p:txBody>
      </p:sp>
      <p:sp>
        <p:nvSpPr>
          <p:cNvPr id="11" name="Texto aviso"/>
          <p:cNvSpPr txBox="1"/>
          <p:nvPr/>
        </p:nvSpPr>
        <p:spPr>
          <a:xfrm>
            <a:off x="1024128" y="3931920"/>
            <a:ext cx="3520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Revisa nombre fiscal, NIF/CIF y dirección: salen en los documentos.</a:t>
            </a:r>
            <a:endParaRPr lang="en-US" sz="1200" dirty="0"/>
          </a:p>
        </p:txBody>
      </p:sp>
      <p:pic>
        <p:nvPicPr>
          <p:cNvPr id="12" name="Captura 41" descr="Formulario «Nuevo cliente» rellen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95735" y="1005840"/>
            <a:ext cx="2833090" cy="3657600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B6B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6583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C3A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Editar un cliente</a:t>
            </a:r>
            <a:endParaRPr lang="en-US" sz="2600" dirty="0"/>
          </a:p>
        </p:txBody>
      </p:sp>
      <p:sp>
        <p:nvSpPr>
          <p:cNvPr id="3" name="Paso 1"/>
          <p:cNvSpPr txBox="1"/>
          <p:nvPr/>
        </p:nvSpPr>
        <p:spPr>
          <a:xfrm>
            <a:off x="457200" y="1115568"/>
            <a:ext cx="310896" cy="310896"/>
          </a:xfrm>
          <a:prstGeom prst="ellipse">
            <a:avLst/>
          </a:prstGeom>
          <a:solidFill>
            <a:srgbClr val="B8904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4" name="Texto paso 1"/>
          <p:cNvSpPr txBox="1"/>
          <p:nvPr/>
        </p:nvSpPr>
        <p:spPr>
          <a:xfrm>
            <a:off x="896112" y="1060704"/>
            <a:ext cx="376732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</a:t>
            </a:r>
            <a:pPr indent="0" marL="0">
              <a:buNone/>
            </a:pPr>
            <a:r>
              <a:rPr lang="en-US" sz="14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Editar cliente</a:t>
            </a:r>
            <a:pPr indent="0" marL="0"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abre </a:t>
            </a:r>
            <a:pPr indent="0" marL="0">
              <a:buNone/>
            </a:pPr>
            <a:r>
              <a:rPr lang="en-US" sz="14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Clientes guardados</a:t>
            </a:r>
            <a:pPr indent="0" marL="0"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400" dirty="0"/>
          </a:p>
        </p:txBody>
      </p:sp>
      <p:sp>
        <p:nvSpPr>
          <p:cNvPr id="5" name="Paso 2"/>
          <p:cNvSpPr txBox="1"/>
          <p:nvPr/>
        </p:nvSpPr>
        <p:spPr>
          <a:xfrm>
            <a:off x="457200" y="1719072"/>
            <a:ext cx="310896" cy="310896"/>
          </a:xfrm>
          <a:prstGeom prst="ellipse">
            <a:avLst/>
          </a:prstGeom>
          <a:solidFill>
            <a:srgbClr val="B8904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6" name="Texto paso 2"/>
          <p:cNvSpPr txBox="1"/>
          <p:nvPr/>
        </p:nvSpPr>
        <p:spPr>
          <a:xfrm>
            <a:off x="896112" y="1664208"/>
            <a:ext cx="376732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Elige el cliente y cambia sus datos.</a:t>
            </a:r>
            <a:endParaRPr lang="en-US" sz="1400" dirty="0"/>
          </a:p>
        </p:txBody>
      </p:sp>
      <p:sp>
        <p:nvSpPr>
          <p:cNvPr id="7" name="Paso 3"/>
          <p:cNvSpPr txBox="1"/>
          <p:nvPr/>
        </p:nvSpPr>
        <p:spPr>
          <a:xfrm>
            <a:off x="457200" y="2322576"/>
            <a:ext cx="310896" cy="310896"/>
          </a:xfrm>
          <a:prstGeom prst="ellipse">
            <a:avLst/>
          </a:prstGeom>
          <a:solidFill>
            <a:srgbClr val="B8904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8" name="Texto paso 3"/>
          <p:cNvSpPr txBox="1"/>
          <p:nvPr/>
        </p:nvSpPr>
        <p:spPr>
          <a:xfrm>
            <a:off x="896112" y="2267712"/>
            <a:ext cx="376732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Pulsa </a:t>
            </a:r>
            <a:pPr indent="0" marL="0">
              <a:buNone/>
            </a:pPr>
            <a:r>
              <a:rPr lang="en-US" sz="14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Actualizar cliente</a:t>
            </a:r>
            <a:pPr indent="0" marL="0"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400" dirty="0"/>
          </a:p>
        </p:txBody>
      </p:sp>
      <p:pic>
        <p:nvPicPr>
          <p:cNvPr id="9" name="Captura 40" descr="Editar cliente: selector de clientes guardado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6403" y="1005840"/>
            <a:ext cx="3011754" cy="3657600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B6B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40080" y="1188720"/>
            <a:ext cx="2743200" cy="12801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7200" b="1" dirty="0">
                <a:solidFill>
                  <a:srgbClr val="E8CD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7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2514600"/>
            <a:ext cx="7863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Presupuestos y facturas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40080" y="333756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E8CD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 borrador al documento emitido</a:t>
            </a:r>
            <a:endParaRPr lang="en-US" sz="16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6583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C3A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Cómo funciona un documento</a:t>
            </a:r>
            <a:endParaRPr lang="en-US" sz="2600" dirty="0"/>
          </a:p>
        </p:txBody>
      </p:sp>
      <p:sp>
        <p:nvSpPr>
          <p:cNvPr id="3" name="Estado Borrador"/>
          <p:cNvSpPr/>
          <p:nvPr/>
        </p:nvSpPr>
        <p:spPr>
          <a:xfrm>
            <a:off x="457200" y="1097280"/>
            <a:ext cx="2560320" cy="1325880"/>
          </a:xfrm>
          <a:prstGeom prst="roundRect">
            <a:avLst>
              <a:gd name="adj" fmla="val 6897"/>
            </a:avLst>
          </a:prstGeom>
          <a:solidFill>
            <a:srgbClr val="F7F1E6"/>
          </a:solidFill>
          <a:ln w="12700">
            <a:solidFill>
              <a:srgbClr val="B8904F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94360" y="118872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C3A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Borrador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594360" y="1627632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Editable, sin número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594360" y="1993392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Chef y gerente</a:t>
            </a:r>
            <a:endParaRPr lang="en-US" sz="1200" dirty="0"/>
          </a:p>
        </p:txBody>
      </p:sp>
      <p:sp>
        <p:nvSpPr>
          <p:cNvPr id="7" name="Flecha"/>
          <p:cNvSpPr/>
          <p:nvPr/>
        </p:nvSpPr>
        <p:spPr>
          <a:xfrm>
            <a:off x="3044952" y="1645920"/>
            <a:ext cx="219456" cy="237744"/>
          </a:xfrm>
          <a:prstGeom prst="rightArrow">
            <a:avLst/>
          </a:prstGeom>
          <a:solidFill>
            <a:srgbClr val="B8904F"/>
          </a:solidFill>
          <a:ln w="12700">
            <a:solidFill>
              <a:srgbClr val="B8904F"/>
            </a:solidFill>
            <a:prstDash val="solid"/>
          </a:ln>
        </p:spPr>
      </p:sp>
      <p:sp>
        <p:nvSpPr>
          <p:cNvPr id="8" name="Estado Emitido"/>
          <p:cNvSpPr/>
          <p:nvPr/>
        </p:nvSpPr>
        <p:spPr>
          <a:xfrm>
            <a:off x="3291840" y="1097280"/>
            <a:ext cx="2560320" cy="1325880"/>
          </a:xfrm>
          <a:prstGeom prst="roundRect">
            <a:avLst>
              <a:gd name="adj" fmla="val 6897"/>
            </a:avLst>
          </a:prstGeom>
          <a:solidFill>
            <a:srgbClr val="5C3A21"/>
          </a:solidFill>
          <a:ln w="12700">
            <a:solidFill>
              <a:srgbClr val="B8904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429000" y="118872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Emitido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3429000" y="1627632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8CD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Número definitivo, no editable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3429000" y="1993392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E8CD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Gerente</a:t>
            </a:r>
            <a:endParaRPr lang="en-US" sz="1200" dirty="0"/>
          </a:p>
        </p:txBody>
      </p:sp>
      <p:sp>
        <p:nvSpPr>
          <p:cNvPr id="12" name="Flecha"/>
          <p:cNvSpPr/>
          <p:nvPr/>
        </p:nvSpPr>
        <p:spPr>
          <a:xfrm>
            <a:off x="5879592" y="1645920"/>
            <a:ext cx="219456" cy="237744"/>
          </a:xfrm>
          <a:prstGeom prst="rightArrow">
            <a:avLst/>
          </a:prstGeom>
          <a:solidFill>
            <a:srgbClr val="B8904F"/>
          </a:solidFill>
          <a:ln w="12700">
            <a:solidFill>
              <a:srgbClr val="B8904F"/>
            </a:solidFill>
            <a:prstDash val="solid"/>
          </a:ln>
        </p:spPr>
      </p:sp>
      <p:sp>
        <p:nvSpPr>
          <p:cNvPr id="13" name="Estado Cobrado / Anulado"/>
          <p:cNvSpPr/>
          <p:nvPr/>
        </p:nvSpPr>
        <p:spPr>
          <a:xfrm>
            <a:off x="6126480" y="1097280"/>
            <a:ext cx="2560320" cy="1325880"/>
          </a:xfrm>
          <a:prstGeom prst="roundRect">
            <a:avLst>
              <a:gd name="adj" fmla="val 6897"/>
            </a:avLst>
          </a:prstGeom>
          <a:solidFill>
            <a:srgbClr val="5C3A21"/>
          </a:solidFill>
          <a:ln w="12700">
            <a:solidFill>
              <a:srgbClr val="B8904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263640" y="118872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Cobrado / Anulado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6263640" y="1627632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8CD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 del recorrido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6263640" y="1993392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E8CD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Gerente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457200" y="269748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Presupuesto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457200" y="297180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B890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PRE-2026-0001</a:t>
            </a:r>
            <a:endParaRPr lang="en-US" sz="2000" dirty="0"/>
          </a:p>
        </p:txBody>
      </p:sp>
      <p:sp>
        <p:nvSpPr>
          <p:cNvPr id="19" name="Text 17"/>
          <p:cNvSpPr txBox="1"/>
          <p:nvPr/>
        </p:nvSpPr>
        <p:spPr>
          <a:xfrm>
            <a:off x="3291840" y="269748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Factura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3291840" y="297180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B890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FAC-2026-0001</a:t>
            </a:r>
            <a:endParaRPr lang="en-US" sz="2000" dirty="0"/>
          </a:p>
        </p:txBody>
      </p:sp>
      <p:sp>
        <p:nvSpPr>
          <p:cNvPr id="21" name="Text 19"/>
          <p:cNvSpPr txBox="1"/>
          <p:nvPr/>
        </p:nvSpPr>
        <p:spPr>
          <a:xfrm>
            <a:off x="6126480" y="269748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Rectificativa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6126480" y="297180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B890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REC-2026-0001</a:t>
            </a:r>
            <a:endParaRPr lang="en-US" sz="2000" dirty="0"/>
          </a:p>
        </p:txBody>
      </p:sp>
      <p:sp>
        <p:nvSpPr>
          <p:cNvPr id="23" name="Aviso"/>
          <p:cNvSpPr/>
          <p:nvPr/>
        </p:nvSpPr>
        <p:spPr>
          <a:xfrm>
            <a:off x="457200" y="3703320"/>
            <a:ext cx="8229600" cy="731520"/>
          </a:xfrm>
          <a:prstGeom prst="roundRect">
            <a:avLst>
              <a:gd name="adj" fmla="val 10000"/>
            </a:avLst>
          </a:prstGeom>
          <a:solidFill>
            <a:srgbClr val="FBF3E4"/>
          </a:solidFill>
          <a:ln w="15875">
            <a:solidFill>
              <a:srgbClr val="A93226"/>
            </a:solidFill>
            <a:prstDash val="solid"/>
          </a:ln>
        </p:spPr>
      </p:sp>
      <p:sp>
        <p:nvSpPr>
          <p:cNvPr id="24" name="Icono aviso"/>
          <p:cNvSpPr txBox="1"/>
          <p:nvPr/>
        </p:nvSpPr>
        <p:spPr>
          <a:xfrm>
            <a:off x="594360" y="3913632"/>
            <a:ext cx="310896" cy="310896"/>
          </a:xfrm>
          <a:prstGeom prst="ellipse">
            <a:avLst/>
          </a:prstGeom>
          <a:solidFill>
            <a:srgbClr val="A9322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!</a:t>
            </a:r>
            <a:endParaRPr lang="en-US" sz="1400" dirty="0"/>
          </a:p>
        </p:txBody>
      </p:sp>
      <p:sp>
        <p:nvSpPr>
          <p:cNvPr id="25" name="Texto aviso"/>
          <p:cNvSpPr txBox="1"/>
          <p:nvPr/>
        </p:nvSpPr>
        <p:spPr>
          <a:xfrm>
            <a:off x="1024128" y="3703320"/>
            <a:ext cx="7543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Factura emitida: no se edita ni se anula → </a:t>
            </a:r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rectificativa</a:t>
            </a:r>
            <a:pPr indent="0" marL="0">
              <a:buNone/>
            </a:pPr>
            <a:r>
              <a:rPr lang="en-US" sz="13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La app </a:t>
            </a:r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está certificada VERI*FACTU</a:t>
            </a:r>
            <a:pPr indent="0" marL="0">
              <a:buNone/>
            </a:pPr>
            <a:r>
              <a:rPr lang="en-US" sz="13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B6B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32</a:t>
            </a:fld>
            <a:endParaRPr lang="en-US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6583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C3A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Documentos guardados</a:t>
            </a:r>
            <a:endParaRPr lang="en-US" sz="2600" dirty="0"/>
          </a:p>
        </p:txBody>
      </p:sp>
      <p:sp>
        <p:nvSpPr>
          <p:cNvPr id="3" name="Puntos"/>
          <p:cNvSpPr txBox="1"/>
          <p:nvPr/>
        </p:nvSpPr>
        <p:spPr>
          <a:xfrm>
            <a:off x="457200" y="1097280"/>
            <a:ext cx="420624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200"/>
              </a:spcAft>
              <a:buNone/>
            </a:pPr>
            <a:r>
              <a:rPr lang="en-US" sz="14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Cargar documento</a:t>
            </a:r>
            <a:pPr indent="0" marL="0">
              <a:spcAft>
                <a:spcPts val="1200"/>
              </a:spcAft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abrirlo para ver o seguir editando.</a:t>
            </a:r>
            <a:endParaRPr lang="en-US" sz="14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4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Duplicar documento</a:t>
            </a:r>
            <a:pPr indent="0" marL="0">
              <a:spcAft>
                <a:spcPts val="1200"/>
              </a:spcAft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nuevo borrador a partir de él.</a:t>
            </a:r>
            <a:endParaRPr lang="en-US" sz="14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4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Crear factura desde presupuesto</a:t>
            </a:r>
            <a:pPr indent="0" marL="0">
              <a:spcAft>
                <a:spcPts val="1200"/>
              </a:spcAft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borrador de factura con sus menús.</a:t>
            </a:r>
            <a:endParaRPr lang="en-US" sz="1400" dirty="0"/>
          </a:p>
        </p:txBody>
      </p:sp>
      <p:pic>
        <p:nvPicPr>
          <p:cNvPr id="4" name="Captura 60" descr="Documentos guardados (Cargar / Duplicar / Crear factura desde presupuesto)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37760" y="1005840"/>
            <a:ext cx="3749040" cy="2504270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B6B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33</a:t>
            </a:fld>
            <a:endParaRPr lang="en-US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6583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C3A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Crear un borrador</a:t>
            </a:r>
            <a:endParaRPr lang="en-US" sz="2600" dirty="0"/>
          </a:p>
        </p:txBody>
      </p:sp>
      <p:sp>
        <p:nvSpPr>
          <p:cNvPr id="3" name="Paso 1"/>
          <p:cNvSpPr txBox="1"/>
          <p:nvPr/>
        </p:nvSpPr>
        <p:spPr>
          <a:xfrm>
            <a:off x="457200" y="1115568"/>
            <a:ext cx="310896" cy="310896"/>
          </a:xfrm>
          <a:prstGeom prst="ellipse">
            <a:avLst/>
          </a:prstGeom>
          <a:solidFill>
            <a:srgbClr val="B8904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4" name="Texto paso 1"/>
          <p:cNvSpPr txBox="1"/>
          <p:nvPr/>
        </p:nvSpPr>
        <p:spPr>
          <a:xfrm>
            <a:off x="896112" y="1060704"/>
            <a:ext cx="376732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Elige </a:t>
            </a:r>
            <a:pPr indent="0" marL="0">
              <a:buNone/>
            </a:pPr>
            <a:r>
              <a:rPr lang="en-US" sz="14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Cliente</a:t>
            </a:r>
            <a:pPr indent="0" marL="0"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y </a:t>
            </a:r>
            <a:pPr indent="0" marL="0">
              <a:buNone/>
            </a:pPr>
            <a:r>
              <a:rPr lang="en-US" sz="14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documento</a:t>
            </a:r>
            <a:pPr indent="0" marL="0"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400" dirty="0"/>
          </a:p>
        </p:txBody>
      </p:sp>
      <p:sp>
        <p:nvSpPr>
          <p:cNvPr id="5" name="Paso 2"/>
          <p:cNvSpPr txBox="1"/>
          <p:nvPr/>
        </p:nvSpPr>
        <p:spPr>
          <a:xfrm>
            <a:off x="457200" y="1645920"/>
            <a:ext cx="310896" cy="310896"/>
          </a:xfrm>
          <a:prstGeom prst="ellipse">
            <a:avLst/>
          </a:prstGeom>
          <a:solidFill>
            <a:srgbClr val="B8904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6" name="Texto paso 2"/>
          <p:cNvSpPr txBox="1"/>
          <p:nvPr/>
        </p:nvSpPr>
        <p:spPr>
          <a:xfrm>
            <a:off x="896112" y="1591056"/>
            <a:ext cx="376732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Revisa fechas, pago, retención e </a:t>
            </a:r>
            <a:pPr indent="0" marL="0">
              <a:buNone/>
            </a:pPr>
            <a:r>
              <a:rPr lang="en-US" sz="14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IVA (%)</a:t>
            </a:r>
            <a:pPr indent="0" marL="0"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400" dirty="0"/>
          </a:p>
        </p:txBody>
      </p:sp>
      <p:sp>
        <p:nvSpPr>
          <p:cNvPr id="7" name="Paso 3"/>
          <p:cNvSpPr txBox="1"/>
          <p:nvPr/>
        </p:nvSpPr>
        <p:spPr>
          <a:xfrm>
            <a:off x="457200" y="2176272"/>
            <a:ext cx="310896" cy="310896"/>
          </a:xfrm>
          <a:prstGeom prst="ellipse">
            <a:avLst/>
          </a:prstGeom>
          <a:solidFill>
            <a:srgbClr val="B8904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8" name="Texto paso 3"/>
          <p:cNvSpPr txBox="1"/>
          <p:nvPr/>
        </p:nvSpPr>
        <p:spPr>
          <a:xfrm>
            <a:off x="896112" y="2121408"/>
            <a:ext cx="376732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Escribe el </a:t>
            </a:r>
            <a:pPr indent="0" marL="0">
              <a:buNone/>
            </a:pPr>
            <a:r>
              <a:rPr lang="en-US" sz="14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Concepto</a:t>
            </a:r>
            <a:pPr indent="0" marL="0"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400" dirty="0"/>
          </a:p>
        </p:txBody>
      </p:sp>
      <p:sp>
        <p:nvSpPr>
          <p:cNvPr id="9" name="Paso 4"/>
          <p:cNvSpPr txBox="1"/>
          <p:nvPr/>
        </p:nvSpPr>
        <p:spPr>
          <a:xfrm>
            <a:off x="457200" y="2706624"/>
            <a:ext cx="310896" cy="310896"/>
          </a:xfrm>
          <a:prstGeom prst="ellipse">
            <a:avLst/>
          </a:prstGeom>
          <a:solidFill>
            <a:srgbClr val="B8904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10" name="Texto paso 4"/>
          <p:cNvSpPr txBox="1"/>
          <p:nvPr/>
        </p:nvSpPr>
        <p:spPr>
          <a:xfrm>
            <a:off x="896112" y="2651760"/>
            <a:ext cx="376732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Elige un menú y pulsa </a:t>
            </a:r>
            <a:pPr indent="0" marL="0">
              <a:buNone/>
            </a:pPr>
            <a:r>
              <a:rPr lang="en-US" sz="14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Añadir menú</a:t>
            </a:r>
            <a:pPr indent="0" marL="0"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400" dirty="0"/>
          </a:p>
        </p:txBody>
      </p:sp>
      <p:sp>
        <p:nvSpPr>
          <p:cNvPr id="11" name="Paso 5"/>
          <p:cNvSpPr txBox="1"/>
          <p:nvPr/>
        </p:nvSpPr>
        <p:spPr>
          <a:xfrm>
            <a:off x="457200" y="3236976"/>
            <a:ext cx="310896" cy="310896"/>
          </a:xfrm>
          <a:prstGeom prst="ellipse">
            <a:avLst/>
          </a:prstGeom>
          <a:solidFill>
            <a:srgbClr val="B8904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12" name="Texto paso 5"/>
          <p:cNvSpPr txBox="1"/>
          <p:nvPr/>
        </p:nvSpPr>
        <p:spPr>
          <a:xfrm>
            <a:off x="896112" y="3182112"/>
            <a:ext cx="376732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Pulsa </a:t>
            </a:r>
            <a:pPr indent="0" marL="0">
              <a:buNone/>
            </a:pPr>
            <a:r>
              <a:rPr lang="en-US" sz="14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Guardar borrador</a:t>
            </a:r>
            <a:pPr indent="0" marL="0"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400" dirty="0"/>
          </a:p>
        </p:txBody>
      </p:sp>
      <p:pic>
        <p:nvPicPr>
          <p:cNvPr id="13" name="Captura 61" descr="Presupuesto en borrador con un menú añadid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37760" y="1005840"/>
            <a:ext cx="3749040" cy="2813621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B6B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34</a:t>
            </a:fld>
            <a:endParaRPr lang="en-US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6583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C3A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 eres chef</a:t>
            </a:r>
            <a:endParaRPr lang="en-US" sz="2600" dirty="0"/>
          </a:p>
        </p:txBody>
      </p:sp>
      <p:sp>
        <p:nvSpPr>
          <p:cNvPr id="3" name="Puntos"/>
          <p:cNvSpPr txBox="1"/>
          <p:nvPr/>
        </p:nvSpPr>
        <p:spPr>
          <a:xfrm>
            <a:off x="457200" y="1097280"/>
            <a:ext cx="420624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200"/>
              </a:spcAft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Preparas y guardas el </a:t>
            </a:r>
            <a:pPr indent="0" marL="0">
              <a:spcAft>
                <a:spcPts val="1200"/>
              </a:spcAft>
              <a:buNone/>
            </a:pPr>
            <a:r>
              <a:rPr lang="en-US" sz="14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borrador</a:t>
            </a:r>
            <a:pPr indent="0" marL="0">
              <a:spcAft>
                <a:spcPts val="1200"/>
              </a:spcAft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igual que el gerente.</a:t>
            </a:r>
            <a:endParaRPr lang="en-US" sz="14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lugar de </a:t>
            </a:r>
            <a:pPr indent="0" marL="0">
              <a:spcAft>
                <a:spcPts val="1200"/>
              </a:spcAft>
              <a:buNone/>
            </a:pPr>
            <a:r>
              <a:rPr lang="en-US" sz="14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Emitir</a:t>
            </a:r>
            <a:pPr indent="0" marL="0">
              <a:spcAft>
                <a:spcPts val="1200"/>
              </a:spcAft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verás: «Solo el gerente puede emitir el documento».</a:t>
            </a:r>
            <a:endParaRPr lang="en-US" sz="14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Avisa a tu gerente cuando el borrador esté listo.</a:t>
            </a:r>
            <a:endParaRPr lang="en-US" sz="1400" dirty="0"/>
          </a:p>
        </p:txBody>
      </p:sp>
      <p:pic>
        <p:nvPicPr>
          <p:cNvPr id="4" name="Captura 50" descr="Borrador de presupuesto creado por el chef (sin número)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37760" y="1005840"/>
            <a:ext cx="3749040" cy="1657238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pic>
      <p:pic>
        <p:nvPicPr>
          <p:cNvPr id="5" name="Captura 51" descr="El chef ve «Solo el gerente puede emitir el documento»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7760" y="2845958"/>
            <a:ext cx="3749040" cy="994343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B6B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35</a:t>
            </a:fld>
            <a:endParaRPr lang="en-US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6583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C3A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Emitir un documento</a:t>
            </a:r>
            <a:endParaRPr lang="en-US" sz="2600" dirty="0"/>
          </a:p>
        </p:txBody>
      </p:sp>
      <p:sp>
        <p:nvSpPr>
          <p:cNvPr id="3" name="Etiqueta solo gerente"/>
          <p:cNvSpPr txBox="1"/>
          <p:nvPr/>
        </p:nvSpPr>
        <p:spPr>
          <a:xfrm>
            <a:off x="7498080" y="438912"/>
            <a:ext cx="1188720" cy="274320"/>
          </a:xfrm>
          <a:prstGeom prst="roundRect">
            <a:avLst>
              <a:gd name="adj" fmla="val 20000"/>
            </a:avLst>
          </a:prstGeom>
          <a:solidFill>
            <a:srgbClr val="5C3A2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SOLO GERENTE</a:t>
            </a:r>
            <a:endParaRPr lang="en-US" sz="1000" dirty="0"/>
          </a:p>
        </p:txBody>
      </p:sp>
      <p:sp>
        <p:nvSpPr>
          <p:cNvPr id="4" name="Paso 1"/>
          <p:cNvSpPr txBox="1"/>
          <p:nvPr/>
        </p:nvSpPr>
        <p:spPr>
          <a:xfrm>
            <a:off x="457200" y="1115568"/>
            <a:ext cx="310896" cy="310896"/>
          </a:xfrm>
          <a:prstGeom prst="ellipse">
            <a:avLst/>
          </a:prstGeom>
          <a:solidFill>
            <a:srgbClr val="B8904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5" name="Texto paso 1"/>
          <p:cNvSpPr txBox="1"/>
          <p:nvPr/>
        </p:nvSpPr>
        <p:spPr>
          <a:xfrm>
            <a:off x="896112" y="1060704"/>
            <a:ext cx="376732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Rellena antes los </a:t>
            </a:r>
            <a:pPr indent="0" marL="0">
              <a:buNone/>
            </a:pPr>
            <a:r>
              <a:rPr lang="en-US" sz="14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datos fiscales</a:t>
            </a:r>
            <a:pPr indent="0" marL="0"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 la organización.</a:t>
            </a:r>
            <a:endParaRPr lang="en-US" sz="1400" dirty="0"/>
          </a:p>
        </p:txBody>
      </p:sp>
      <p:sp>
        <p:nvSpPr>
          <p:cNvPr id="6" name="Paso 2"/>
          <p:cNvSpPr txBox="1"/>
          <p:nvPr/>
        </p:nvSpPr>
        <p:spPr>
          <a:xfrm>
            <a:off x="457200" y="1719072"/>
            <a:ext cx="310896" cy="310896"/>
          </a:xfrm>
          <a:prstGeom prst="ellipse">
            <a:avLst/>
          </a:prstGeom>
          <a:solidFill>
            <a:srgbClr val="B8904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7" name="Texto paso 2"/>
          <p:cNvSpPr txBox="1"/>
          <p:nvPr/>
        </p:nvSpPr>
        <p:spPr>
          <a:xfrm>
            <a:off x="896112" y="1664208"/>
            <a:ext cx="376732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Carga el borrador guardado y revísalo.</a:t>
            </a:r>
            <a:endParaRPr lang="en-US" sz="1400" dirty="0"/>
          </a:p>
        </p:txBody>
      </p:sp>
      <p:sp>
        <p:nvSpPr>
          <p:cNvPr id="8" name="Paso 3"/>
          <p:cNvSpPr txBox="1"/>
          <p:nvPr/>
        </p:nvSpPr>
        <p:spPr>
          <a:xfrm>
            <a:off x="457200" y="2322576"/>
            <a:ext cx="310896" cy="310896"/>
          </a:xfrm>
          <a:prstGeom prst="ellipse">
            <a:avLst/>
          </a:prstGeom>
          <a:solidFill>
            <a:srgbClr val="B8904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9" name="Texto paso 3"/>
          <p:cNvSpPr txBox="1"/>
          <p:nvPr/>
        </p:nvSpPr>
        <p:spPr>
          <a:xfrm>
            <a:off x="896112" y="2267712"/>
            <a:ext cx="376732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Pulsa </a:t>
            </a:r>
            <a:pPr indent="0" marL="0">
              <a:buNone/>
            </a:pPr>
            <a:r>
              <a:rPr lang="en-US" sz="14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Emitir documento</a:t>
            </a:r>
            <a:pPr indent="0" marL="0"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400" dirty="0"/>
          </a:p>
        </p:txBody>
      </p:sp>
      <p:sp>
        <p:nvSpPr>
          <p:cNvPr id="10" name="Paso 4"/>
          <p:cNvSpPr txBox="1"/>
          <p:nvPr/>
        </p:nvSpPr>
        <p:spPr>
          <a:xfrm>
            <a:off x="457200" y="2926080"/>
            <a:ext cx="310896" cy="310896"/>
          </a:xfrm>
          <a:prstGeom prst="ellipse">
            <a:avLst/>
          </a:prstGeom>
          <a:solidFill>
            <a:srgbClr val="B8904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11" name="Texto paso 4"/>
          <p:cNvSpPr txBox="1"/>
          <p:nvPr/>
        </p:nvSpPr>
        <p:spPr>
          <a:xfrm>
            <a:off x="896112" y="2871216"/>
            <a:ext cx="376732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Verás el número asignado (PRE-2026-0001).</a:t>
            </a:r>
            <a:endParaRPr lang="en-US" sz="1400" dirty="0"/>
          </a:p>
        </p:txBody>
      </p:sp>
      <p:sp>
        <p:nvSpPr>
          <p:cNvPr id="12" name="Aviso"/>
          <p:cNvSpPr/>
          <p:nvPr/>
        </p:nvSpPr>
        <p:spPr>
          <a:xfrm>
            <a:off x="457200" y="3931920"/>
            <a:ext cx="4206240" cy="685800"/>
          </a:xfrm>
          <a:prstGeom prst="roundRect">
            <a:avLst>
              <a:gd name="adj" fmla="val 10667"/>
            </a:avLst>
          </a:prstGeom>
          <a:solidFill>
            <a:srgbClr val="FBF3E4"/>
          </a:solidFill>
          <a:ln w="15875">
            <a:solidFill>
              <a:srgbClr val="A93226"/>
            </a:solidFill>
            <a:prstDash val="solid"/>
          </a:ln>
        </p:spPr>
      </p:sp>
      <p:sp>
        <p:nvSpPr>
          <p:cNvPr id="13" name="Icono aviso"/>
          <p:cNvSpPr txBox="1"/>
          <p:nvPr/>
        </p:nvSpPr>
        <p:spPr>
          <a:xfrm>
            <a:off x="594360" y="4119372"/>
            <a:ext cx="310896" cy="310896"/>
          </a:xfrm>
          <a:prstGeom prst="ellipse">
            <a:avLst/>
          </a:prstGeom>
          <a:solidFill>
            <a:srgbClr val="A9322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!</a:t>
            </a:r>
            <a:endParaRPr lang="en-US" sz="1400" dirty="0"/>
          </a:p>
        </p:txBody>
      </p:sp>
      <p:sp>
        <p:nvSpPr>
          <p:cNvPr id="14" name="Texto aviso"/>
          <p:cNvSpPr txBox="1"/>
          <p:nvPr/>
        </p:nvSpPr>
        <p:spPr>
          <a:xfrm>
            <a:off x="1024128" y="3931920"/>
            <a:ext cx="3520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Emitir </a:t>
            </a:r>
            <a:pPr indent="0" marL="0">
              <a:buNone/>
            </a:pPr>
            <a:r>
              <a:rPr lang="en-US" sz="12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se puede deshacer</a:t>
            </a:r>
            <a:pPr indent="0" marL="0">
              <a:buNone/>
            </a:pPr>
            <a:r>
              <a:rPr lang="en-US" sz="12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200" dirty="0"/>
          </a:p>
        </p:txBody>
      </p:sp>
      <p:pic>
        <p:nvPicPr>
          <p:cNvPr id="15" name="Captura 62a" descr="Botón «Emitir documento» en un borrador guardad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37760" y="1005840"/>
            <a:ext cx="3749040" cy="1323191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pic>
      <p:pic>
        <p:nvPicPr>
          <p:cNvPr id="16" name="Captura 62" descr="Mensaje tras emitir (PRE-2026-0001)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7760" y="2511911"/>
            <a:ext cx="3749040" cy="882127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B6B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36</a:t>
            </a:fld>
            <a:endParaRPr lang="en-US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6583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C3A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Documento emitido y PDF</a:t>
            </a:r>
            <a:endParaRPr lang="en-US" sz="2600" dirty="0"/>
          </a:p>
        </p:txBody>
      </p:sp>
      <p:sp>
        <p:nvSpPr>
          <p:cNvPr id="3" name="Puntos"/>
          <p:cNvSpPr txBox="1"/>
          <p:nvPr/>
        </p:nvSpPr>
        <p:spPr>
          <a:xfrm>
            <a:off x="457200" y="1097280"/>
            <a:ext cx="420624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200"/>
              </a:spcAft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documento emitido está en </a:t>
            </a:r>
            <a:pPr indent="0" marL="0">
              <a:spcAft>
                <a:spcPts val="1200"/>
              </a:spcAft>
              <a:buNone/>
            </a:pPr>
            <a:r>
              <a:rPr lang="en-US" sz="14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solo lectura</a:t>
            </a:r>
            <a:pPr indent="0" marL="0">
              <a:spcAft>
                <a:spcPts val="1200"/>
              </a:spcAft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4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4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Descargar PDF</a:t>
            </a:r>
            <a:pPr indent="0" marL="0">
              <a:spcAft>
                <a:spcPts val="1200"/>
              </a:spcAft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usa los datos guardados al emitir.</a:t>
            </a:r>
            <a:endParaRPr lang="en-US" sz="14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PDF lleva los datos fiscales y el logo de tu organización.</a:t>
            </a:r>
            <a:endParaRPr lang="en-US" sz="1400" dirty="0"/>
          </a:p>
        </p:txBody>
      </p:sp>
      <p:pic>
        <p:nvPicPr>
          <p:cNvPr id="4" name="Captura 63" descr="Documento emitido: acciones disponibl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37760" y="1005840"/>
            <a:ext cx="3749040" cy="1308488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pic>
      <p:pic>
        <p:nvPicPr>
          <p:cNvPr id="5" name="Captura 64" descr="PDF del presupuesto descargad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30620" y="2497208"/>
            <a:ext cx="1763321" cy="1737360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B6B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37</a:t>
            </a:fld>
            <a:endParaRPr lang="en-US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6583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C3A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Factura y cobro</a:t>
            </a:r>
            <a:endParaRPr lang="en-US" sz="2600" dirty="0"/>
          </a:p>
        </p:txBody>
      </p:sp>
      <p:sp>
        <p:nvSpPr>
          <p:cNvPr id="3" name="Etiqueta solo gerente"/>
          <p:cNvSpPr txBox="1"/>
          <p:nvPr/>
        </p:nvSpPr>
        <p:spPr>
          <a:xfrm>
            <a:off x="7498080" y="438912"/>
            <a:ext cx="1188720" cy="274320"/>
          </a:xfrm>
          <a:prstGeom prst="roundRect">
            <a:avLst>
              <a:gd name="adj" fmla="val 20000"/>
            </a:avLst>
          </a:prstGeom>
          <a:solidFill>
            <a:srgbClr val="5C3A2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SOLO GERENTE</a:t>
            </a:r>
            <a:endParaRPr lang="en-US" sz="1000" dirty="0"/>
          </a:p>
        </p:txBody>
      </p:sp>
      <p:sp>
        <p:nvSpPr>
          <p:cNvPr id="4" name="Paso 1"/>
          <p:cNvSpPr txBox="1"/>
          <p:nvPr/>
        </p:nvSpPr>
        <p:spPr>
          <a:xfrm>
            <a:off x="457200" y="1115568"/>
            <a:ext cx="310896" cy="310896"/>
          </a:xfrm>
          <a:prstGeom prst="ellipse">
            <a:avLst/>
          </a:prstGeom>
          <a:solidFill>
            <a:srgbClr val="B8904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5" name="Texto paso 1"/>
          <p:cNvSpPr txBox="1"/>
          <p:nvPr/>
        </p:nvSpPr>
        <p:spPr>
          <a:xfrm>
            <a:off x="896112" y="1060704"/>
            <a:ext cx="376732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Desde un presupuesto: </a:t>
            </a:r>
            <a:pPr indent="0" marL="0">
              <a:buNone/>
            </a:pPr>
            <a:r>
              <a:rPr lang="en-US" sz="14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Crear factura desde presupuesto</a:t>
            </a:r>
            <a:pPr indent="0" marL="0"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400" dirty="0"/>
          </a:p>
        </p:txBody>
      </p:sp>
      <p:sp>
        <p:nvSpPr>
          <p:cNvPr id="6" name="Paso 2"/>
          <p:cNvSpPr txBox="1"/>
          <p:nvPr/>
        </p:nvSpPr>
        <p:spPr>
          <a:xfrm>
            <a:off x="457200" y="1719072"/>
            <a:ext cx="310896" cy="310896"/>
          </a:xfrm>
          <a:prstGeom prst="ellipse">
            <a:avLst/>
          </a:prstGeom>
          <a:solidFill>
            <a:srgbClr val="B8904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7" name="Texto paso 2"/>
          <p:cNvSpPr txBox="1"/>
          <p:nvPr/>
        </p:nvSpPr>
        <p:spPr>
          <a:xfrm>
            <a:off x="896112" y="1664208"/>
            <a:ext cx="376732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Guarda el borrador y pulsa </a:t>
            </a:r>
            <a:pPr indent="0" marL="0">
              <a:buNone/>
            </a:pPr>
            <a:r>
              <a:rPr lang="en-US" sz="14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Emitir documento</a:t>
            </a:r>
            <a:pPr indent="0" marL="0"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400" dirty="0"/>
          </a:p>
        </p:txBody>
      </p:sp>
      <p:sp>
        <p:nvSpPr>
          <p:cNvPr id="8" name="Paso 3"/>
          <p:cNvSpPr txBox="1"/>
          <p:nvPr/>
        </p:nvSpPr>
        <p:spPr>
          <a:xfrm>
            <a:off x="457200" y="2322576"/>
            <a:ext cx="310896" cy="310896"/>
          </a:xfrm>
          <a:prstGeom prst="ellipse">
            <a:avLst/>
          </a:prstGeom>
          <a:solidFill>
            <a:srgbClr val="B8904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9" name="Texto paso 3"/>
          <p:cNvSpPr txBox="1"/>
          <p:nvPr/>
        </p:nvSpPr>
        <p:spPr>
          <a:xfrm>
            <a:off x="896112" y="2267712"/>
            <a:ext cx="376732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 cobrar: </a:t>
            </a:r>
            <a:pPr indent="0" marL="0">
              <a:buNone/>
            </a:pPr>
            <a:r>
              <a:rPr lang="en-US" sz="14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Marcar como cobrado</a:t>
            </a:r>
            <a:pPr indent="0" marL="0"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400" dirty="0"/>
          </a:p>
        </p:txBody>
      </p:sp>
      <p:pic>
        <p:nvPicPr>
          <p:cNvPr id="10" name="Captura 65" descr="Factura emitida (FAC-2026-0001)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37760" y="1005840"/>
            <a:ext cx="3749040" cy="1411403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pic>
      <p:pic>
        <p:nvPicPr>
          <p:cNvPr id="11" name="Captura 66" descr="Factura en estado cobrad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7760" y="2600123"/>
            <a:ext cx="3749040" cy="441064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B6B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38</a:t>
            </a:fld>
            <a:endParaRPr lang="en-US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6583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C3A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Corregir una factura: rectificativa</a:t>
            </a:r>
            <a:endParaRPr lang="en-US" sz="2600" dirty="0"/>
          </a:p>
        </p:txBody>
      </p:sp>
      <p:sp>
        <p:nvSpPr>
          <p:cNvPr id="3" name="Etiqueta solo gerente"/>
          <p:cNvSpPr txBox="1"/>
          <p:nvPr/>
        </p:nvSpPr>
        <p:spPr>
          <a:xfrm>
            <a:off x="7498080" y="438912"/>
            <a:ext cx="1188720" cy="274320"/>
          </a:xfrm>
          <a:prstGeom prst="roundRect">
            <a:avLst>
              <a:gd name="adj" fmla="val 20000"/>
            </a:avLst>
          </a:prstGeom>
          <a:solidFill>
            <a:srgbClr val="5C3A2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SOLO GERENTE</a:t>
            </a:r>
            <a:endParaRPr lang="en-US" sz="1000" dirty="0"/>
          </a:p>
        </p:txBody>
      </p:sp>
      <p:sp>
        <p:nvSpPr>
          <p:cNvPr id="4" name="Paso 1"/>
          <p:cNvSpPr txBox="1"/>
          <p:nvPr/>
        </p:nvSpPr>
        <p:spPr>
          <a:xfrm>
            <a:off x="457200" y="1115568"/>
            <a:ext cx="310896" cy="310896"/>
          </a:xfrm>
          <a:prstGeom prst="ellipse">
            <a:avLst/>
          </a:prstGeom>
          <a:solidFill>
            <a:srgbClr val="B8904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5" name="Texto paso 1"/>
          <p:cNvSpPr txBox="1"/>
          <p:nvPr/>
        </p:nvSpPr>
        <p:spPr>
          <a:xfrm>
            <a:off x="896112" y="1060704"/>
            <a:ext cx="376732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Carga la factura emitida.</a:t>
            </a:r>
            <a:endParaRPr lang="en-US" sz="1400" dirty="0"/>
          </a:p>
        </p:txBody>
      </p:sp>
      <p:sp>
        <p:nvSpPr>
          <p:cNvPr id="6" name="Paso 2"/>
          <p:cNvSpPr txBox="1"/>
          <p:nvPr/>
        </p:nvSpPr>
        <p:spPr>
          <a:xfrm>
            <a:off x="457200" y="1719072"/>
            <a:ext cx="310896" cy="310896"/>
          </a:xfrm>
          <a:prstGeom prst="ellipse">
            <a:avLst/>
          </a:prstGeom>
          <a:solidFill>
            <a:srgbClr val="B8904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7" name="Texto paso 2"/>
          <p:cNvSpPr txBox="1"/>
          <p:nvPr/>
        </p:nvSpPr>
        <p:spPr>
          <a:xfrm>
            <a:off x="896112" y="1664208"/>
            <a:ext cx="376732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Pulsa </a:t>
            </a:r>
            <a:pPr indent="0" marL="0">
              <a:buNone/>
            </a:pPr>
            <a:r>
              <a:rPr lang="en-US" sz="14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Crear rectificativa</a:t>
            </a:r>
            <a:pPr indent="0" marL="0"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400" dirty="0"/>
          </a:p>
        </p:txBody>
      </p:sp>
      <p:sp>
        <p:nvSpPr>
          <p:cNvPr id="8" name="Paso 3"/>
          <p:cNvSpPr txBox="1"/>
          <p:nvPr/>
        </p:nvSpPr>
        <p:spPr>
          <a:xfrm>
            <a:off x="457200" y="2322576"/>
            <a:ext cx="310896" cy="310896"/>
          </a:xfrm>
          <a:prstGeom prst="ellipse">
            <a:avLst/>
          </a:prstGeom>
          <a:solidFill>
            <a:srgbClr val="B8904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9" name="Texto paso 3"/>
          <p:cNvSpPr txBox="1"/>
          <p:nvPr/>
        </p:nvSpPr>
        <p:spPr>
          <a:xfrm>
            <a:off x="896112" y="2267712"/>
            <a:ext cx="376732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«Factura rectificativa» (fijo); corrige y pulsa </a:t>
            </a:r>
            <a:pPr indent="0" marL="0">
              <a:buNone/>
            </a:pPr>
            <a:r>
              <a:rPr lang="en-US" sz="14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Actualizar borrador</a:t>
            </a:r>
            <a:pPr indent="0" marL="0"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400" dirty="0"/>
          </a:p>
        </p:txBody>
      </p:sp>
      <p:sp>
        <p:nvSpPr>
          <p:cNvPr id="10" name="Paso 4"/>
          <p:cNvSpPr txBox="1"/>
          <p:nvPr/>
        </p:nvSpPr>
        <p:spPr>
          <a:xfrm>
            <a:off x="457200" y="2926080"/>
            <a:ext cx="310896" cy="310896"/>
          </a:xfrm>
          <a:prstGeom prst="ellipse">
            <a:avLst/>
          </a:prstGeom>
          <a:solidFill>
            <a:srgbClr val="B8904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11" name="Texto paso 4"/>
          <p:cNvSpPr txBox="1"/>
          <p:nvPr/>
        </p:nvSpPr>
        <p:spPr>
          <a:xfrm>
            <a:off x="896112" y="2871216"/>
            <a:ext cx="376732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Pulsa </a:t>
            </a:r>
            <a:pPr indent="0" marL="0">
              <a:buNone/>
            </a:pPr>
            <a:r>
              <a:rPr lang="en-US" sz="14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Emitir documento</a:t>
            </a:r>
            <a:pPr indent="0" marL="0"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número </a:t>
            </a:r>
            <a:pPr indent="0" marL="0">
              <a:buNone/>
            </a:pPr>
            <a:r>
              <a:rPr lang="en-US" sz="14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REC-AAAA-NNNN</a:t>
            </a:r>
            <a:pPr indent="0" marL="0"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400" dirty="0"/>
          </a:p>
        </p:txBody>
      </p:sp>
      <p:pic>
        <p:nvPicPr>
          <p:cNvPr id="12" name="Captura 67" descr="Borrador rectificativo: tipo «Factura rectificativa» y concept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37760" y="1005840"/>
            <a:ext cx="3749040" cy="1863472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B6B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39</a:t>
            </a:fld>
            <a:endParaRPr lang="en-US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6583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C3A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Anular un presupuesto</a:t>
            </a:r>
            <a:endParaRPr lang="en-US" sz="2600" dirty="0"/>
          </a:p>
        </p:txBody>
      </p:sp>
      <p:sp>
        <p:nvSpPr>
          <p:cNvPr id="3" name="Etiqueta solo gerente"/>
          <p:cNvSpPr txBox="1"/>
          <p:nvPr/>
        </p:nvSpPr>
        <p:spPr>
          <a:xfrm>
            <a:off x="7498080" y="438912"/>
            <a:ext cx="1188720" cy="274320"/>
          </a:xfrm>
          <a:prstGeom prst="roundRect">
            <a:avLst>
              <a:gd name="adj" fmla="val 20000"/>
            </a:avLst>
          </a:prstGeom>
          <a:solidFill>
            <a:srgbClr val="5C3A2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SOLO GERENTE</a:t>
            </a:r>
            <a:endParaRPr lang="en-US" sz="1000" dirty="0"/>
          </a:p>
        </p:txBody>
      </p:sp>
      <p:sp>
        <p:nvSpPr>
          <p:cNvPr id="4" name="Paso 1"/>
          <p:cNvSpPr txBox="1"/>
          <p:nvPr/>
        </p:nvSpPr>
        <p:spPr>
          <a:xfrm>
            <a:off x="457200" y="1115568"/>
            <a:ext cx="310896" cy="310896"/>
          </a:xfrm>
          <a:prstGeom prst="ellipse">
            <a:avLst/>
          </a:prstGeom>
          <a:solidFill>
            <a:srgbClr val="B8904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5" name="Texto paso 1"/>
          <p:cNvSpPr txBox="1"/>
          <p:nvPr/>
        </p:nvSpPr>
        <p:spPr>
          <a:xfrm>
            <a:off x="896112" y="1060704"/>
            <a:ext cx="376732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Carga el presupuesto emitido.</a:t>
            </a:r>
            <a:endParaRPr lang="en-US" sz="1400" dirty="0"/>
          </a:p>
        </p:txBody>
      </p:sp>
      <p:sp>
        <p:nvSpPr>
          <p:cNvPr id="6" name="Paso 2"/>
          <p:cNvSpPr txBox="1"/>
          <p:nvPr/>
        </p:nvSpPr>
        <p:spPr>
          <a:xfrm>
            <a:off x="457200" y="1719072"/>
            <a:ext cx="310896" cy="310896"/>
          </a:xfrm>
          <a:prstGeom prst="ellipse">
            <a:avLst/>
          </a:prstGeom>
          <a:solidFill>
            <a:srgbClr val="B8904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7" name="Texto paso 2"/>
          <p:cNvSpPr txBox="1"/>
          <p:nvPr/>
        </p:nvSpPr>
        <p:spPr>
          <a:xfrm>
            <a:off x="896112" y="1664208"/>
            <a:ext cx="376732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Pulsa </a:t>
            </a:r>
            <a:pPr indent="0" marL="0">
              <a:buNone/>
            </a:pPr>
            <a:r>
              <a:rPr lang="en-US" sz="14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Anular presupuesto</a:t>
            </a:r>
            <a:pPr indent="0" marL="0"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y confirma con </a:t>
            </a:r>
            <a:pPr indent="0" marL="0">
              <a:buNone/>
            </a:pPr>
            <a:r>
              <a:rPr lang="en-US" sz="14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Sí, anular presupuesto</a:t>
            </a:r>
            <a:pPr indent="0" marL="0"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400" dirty="0"/>
          </a:p>
        </p:txBody>
      </p:sp>
      <p:sp>
        <p:nvSpPr>
          <p:cNvPr id="8" name="Paso 3"/>
          <p:cNvSpPr txBox="1"/>
          <p:nvPr/>
        </p:nvSpPr>
        <p:spPr>
          <a:xfrm>
            <a:off x="457200" y="2322576"/>
            <a:ext cx="310896" cy="310896"/>
          </a:xfrm>
          <a:prstGeom prst="ellipse">
            <a:avLst/>
          </a:prstGeom>
          <a:solidFill>
            <a:srgbClr val="B8904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9" name="Texto paso 3"/>
          <p:cNvSpPr txBox="1"/>
          <p:nvPr/>
        </p:nvSpPr>
        <p:spPr>
          <a:xfrm>
            <a:off x="896112" y="2267712"/>
            <a:ext cx="376732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Queda en estado </a:t>
            </a:r>
            <a:pPr indent="0" marL="0">
              <a:buNone/>
            </a:pPr>
            <a:r>
              <a:rPr lang="en-US" sz="14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anulada</a:t>
            </a:r>
            <a:pPr indent="0" marL="0"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400" dirty="0"/>
          </a:p>
        </p:txBody>
      </p:sp>
      <p:sp>
        <p:nvSpPr>
          <p:cNvPr id="10" name="Aviso"/>
          <p:cNvSpPr/>
          <p:nvPr/>
        </p:nvSpPr>
        <p:spPr>
          <a:xfrm>
            <a:off x="457200" y="3931920"/>
            <a:ext cx="4206240" cy="685800"/>
          </a:xfrm>
          <a:prstGeom prst="roundRect">
            <a:avLst>
              <a:gd name="adj" fmla="val 10667"/>
            </a:avLst>
          </a:prstGeom>
          <a:solidFill>
            <a:srgbClr val="FBF3E4"/>
          </a:solidFill>
          <a:ln w="15875">
            <a:solidFill>
              <a:srgbClr val="A93226"/>
            </a:solidFill>
            <a:prstDash val="solid"/>
          </a:ln>
        </p:spPr>
      </p:sp>
      <p:sp>
        <p:nvSpPr>
          <p:cNvPr id="11" name="Icono aviso"/>
          <p:cNvSpPr txBox="1"/>
          <p:nvPr/>
        </p:nvSpPr>
        <p:spPr>
          <a:xfrm>
            <a:off x="594360" y="4119372"/>
            <a:ext cx="310896" cy="310896"/>
          </a:xfrm>
          <a:prstGeom prst="ellipse">
            <a:avLst/>
          </a:prstGeom>
          <a:solidFill>
            <a:srgbClr val="A9322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!</a:t>
            </a:r>
            <a:endParaRPr lang="en-US" sz="1400" dirty="0"/>
          </a:p>
        </p:txBody>
      </p:sp>
      <p:sp>
        <p:nvSpPr>
          <p:cNvPr id="12" name="Texto aviso"/>
          <p:cNvSpPr txBox="1"/>
          <p:nvPr/>
        </p:nvSpPr>
        <p:spPr>
          <a:xfrm>
            <a:off x="1024128" y="3931920"/>
            <a:ext cx="3520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Solo presupuestos. La anulación </a:t>
            </a:r>
            <a:pPr indent="0" marL="0">
              <a:buNone/>
            </a:pPr>
            <a:r>
              <a:rPr lang="en-US" sz="12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se puede deshacer</a:t>
            </a:r>
            <a:pPr indent="0" marL="0">
              <a:buNone/>
            </a:pPr>
            <a:r>
              <a:rPr lang="en-US" sz="12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200" dirty="0"/>
          </a:p>
        </p:txBody>
      </p:sp>
      <p:pic>
        <p:nvPicPr>
          <p:cNvPr id="13" name="Captura 63" descr="Documento emitido: acciones disponibl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37760" y="1005840"/>
            <a:ext cx="3749040" cy="1308488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pic>
      <p:pic>
        <p:nvPicPr>
          <p:cNvPr id="14" name="Captura 68" descr="Presupuesto anulad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7760" y="2497208"/>
            <a:ext cx="3749040" cy="431305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B6B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40</a:t>
            </a:fld>
            <a:endParaRPr lang="en-US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40080" y="1188720"/>
            <a:ext cx="2743200" cy="12801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7200" b="1" dirty="0">
                <a:solidFill>
                  <a:srgbClr val="E8CD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06</a:t>
            </a:r>
            <a:endParaRPr lang="en-US" sz="7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2514600"/>
            <a:ext cx="7863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Funciones del gerente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40080" y="333756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E8CD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Miembros, datos de la organización, inventario y compartir</a:t>
            </a:r>
            <a:endParaRPr lang="en-US" sz="16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6583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C3A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página Gerente</a:t>
            </a:r>
            <a:endParaRPr lang="en-US" sz="2600" dirty="0"/>
          </a:p>
        </p:txBody>
      </p:sp>
      <p:sp>
        <p:nvSpPr>
          <p:cNvPr id="3" name="Etiqueta solo gerente"/>
          <p:cNvSpPr txBox="1"/>
          <p:nvPr/>
        </p:nvSpPr>
        <p:spPr>
          <a:xfrm>
            <a:off x="7498080" y="438912"/>
            <a:ext cx="1188720" cy="274320"/>
          </a:xfrm>
          <a:prstGeom prst="roundRect">
            <a:avLst>
              <a:gd name="adj" fmla="val 20000"/>
            </a:avLst>
          </a:prstGeom>
          <a:solidFill>
            <a:srgbClr val="5C3A2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SOLO GERENTE</a:t>
            </a:r>
            <a:endParaRPr lang="en-US" sz="1000" dirty="0"/>
          </a:p>
        </p:txBody>
      </p:sp>
      <p:sp>
        <p:nvSpPr>
          <p:cNvPr id="4" name="Paso 1"/>
          <p:cNvSpPr txBox="1"/>
          <p:nvPr/>
        </p:nvSpPr>
        <p:spPr>
          <a:xfrm>
            <a:off x="457200" y="1115568"/>
            <a:ext cx="310896" cy="310896"/>
          </a:xfrm>
          <a:prstGeom prst="ellipse">
            <a:avLst/>
          </a:prstGeom>
          <a:solidFill>
            <a:srgbClr val="B8904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5" name="Texto paso 1"/>
          <p:cNvSpPr txBox="1"/>
          <p:nvPr/>
        </p:nvSpPr>
        <p:spPr>
          <a:xfrm>
            <a:off x="896112" y="1060704"/>
            <a:ext cx="376732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</a:t>
            </a:r>
            <a:pPr indent="0" marL="0">
              <a:buNone/>
            </a:pPr>
            <a:r>
              <a:rPr lang="en-US" sz="14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Navegación</a:t>
            </a:r>
            <a:pPr indent="0" marL="0"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elige </a:t>
            </a:r>
            <a:pPr indent="0" marL="0">
              <a:buNone/>
            </a:pPr>
            <a:r>
              <a:rPr lang="en-US" sz="14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Gerente</a:t>
            </a:r>
            <a:pPr indent="0" marL="0"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400" dirty="0"/>
          </a:p>
        </p:txBody>
      </p:sp>
      <p:sp>
        <p:nvSpPr>
          <p:cNvPr id="6" name="Paso 2"/>
          <p:cNvSpPr txBox="1"/>
          <p:nvPr/>
        </p:nvSpPr>
        <p:spPr>
          <a:xfrm>
            <a:off x="457200" y="1847088"/>
            <a:ext cx="310896" cy="310896"/>
          </a:xfrm>
          <a:prstGeom prst="ellipse">
            <a:avLst/>
          </a:prstGeom>
          <a:solidFill>
            <a:srgbClr val="B8904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7" name="Texto paso 2"/>
          <p:cNvSpPr txBox="1"/>
          <p:nvPr/>
        </p:nvSpPr>
        <p:spPr>
          <a:xfrm>
            <a:off x="896112" y="1792224"/>
            <a:ext cx="376732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Pestañas: Miembros e invitaciones, </a:t>
            </a:r>
            <a:pPr indent="0" marL="0">
              <a:buNone/>
            </a:pPr>
            <a:r>
              <a:rPr lang="en-US" sz="14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Recetas de chefs</a:t>
            </a:r>
            <a:pPr indent="0" marL="0"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Datos de la organización, Inventario propio y Compartir recetas.</a:t>
            </a:r>
            <a:endParaRPr lang="en-US" sz="1400" dirty="0"/>
          </a:p>
        </p:txBody>
      </p:sp>
      <p:sp>
        <p:nvSpPr>
          <p:cNvPr id="8" name="Paso 3"/>
          <p:cNvSpPr txBox="1"/>
          <p:nvPr/>
        </p:nvSpPr>
        <p:spPr>
          <a:xfrm>
            <a:off x="457200" y="2578608"/>
            <a:ext cx="310896" cy="310896"/>
          </a:xfrm>
          <a:prstGeom prst="ellipse">
            <a:avLst/>
          </a:prstGeom>
          <a:solidFill>
            <a:srgbClr val="B8904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9" name="Texto paso 3"/>
          <p:cNvSpPr txBox="1"/>
          <p:nvPr/>
        </p:nvSpPr>
        <p:spPr>
          <a:xfrm>
            <a:off x="896112" y="2523744"/>
            <a:ext cx="376732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volver, elige </a:t>
            </a:r>
            <a:pPr indent="0" marL="0">
              <a:buNone/>
            </a:pPr>
            <a:r>
              <a:rPr lang="en-US" sz="14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</a:t>
            </a:r>
            <a:pPr indent="0" marL="0"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400" dirty="0"/>
          </a:p>
        </p:txBody>
      </p:sp>
      <p:pic>
        <p:nvPicPr>
          <p:cNvPr id="10" name="Captura 70" descr="Navegación App / Gerente y página de gestió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04006" y="1005840"/>
            <a:ext cx="2816548" cy="3657600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B6B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42</a:t>
            </a:fld>
            <a:endParaRPr lang="en-US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6583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C3A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Miembros e invitaciones</a:t>
            </a:r>
            <a:endParaRPr lang="en-US" sz="2600" dirty="0"/>
          </a:p>
        </p:txBody>
      </p:sp>
      <p:sp>
        <p:nvSpPr>
          <p:cNvPr id="3" name="Etiqueta solo gerente"/>
          <p:cNvSpPr txBox="1"/>
          <p:nvPr/>
        </p:nvSpPr>
        <p:spPr>
          <a:xfrm>
            <a:off x="7498080" y="438912"/>
            <a:ext cx="1188720" cy="274320"/>
          </a:xfrm>
          <a:prstGeom prst="roundRect">
            <a:avLst>
              <a:gd name="adj" fmla="val 20000"/>
            </a:avLst>
          </a:prstGeom>
          <a:solidFill>
            <a:srgbClr val="5C3A2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SOLO GERENTE</a:t>
            </a:r>
            <a:endParaRPr lang="en-US" sz="1000" dirty="0"/>
          </a:p>
        </p:txBody>
      </p:sp>
      <p:sp>
        <p:nvSpPr>
          <p:cNvPr id="4" name="Paso 1"/>
          <p:cNvSpPr txBox="1"/>
          <p:nvPr/>
        </p:nvSpPr>
        <p:spPr>
          <a:xfrm>
            <a:off x="457200" y="1115568"/>
            <a:ext cx="310896" cy="310896"/>
          </a:xfrm>
          <a:prstGeom prst="ellipse">
            <a:avLst/>
          </a:prstGeom>
          <a:solidFill>
            <a:srgbClr val="B8904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5" name="Texto paso 1"/>
          <p:cNvSpPr txBox="1"/>
          <p:nvPr/>
        </p:nvSpPr>
        <p:spPr>
          <a:xfrm>
            <a:off x="896112" y="1060704"/>
            <a:ext cx="376732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Invitaciones</a:t>
            </a:r>
            <a:pPr indent="0" marL="0"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email, </a:t>
            </a:r>
            <a:pPr indent="0" marL="0">
              <a:buNone/>
            </a:pPr>
            <a:r>
              <a:rPr lang="en-US" sz="14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</a:t>
            </a:r>
            <a:pPr indent="0" marL="0"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y </a:t>
            </a:r>
            <a:pPr indent="0" marL="0">
              <a:buNone/>
            </a:pPr>
            <a:r>
              <a:rPr lang="en-US" sz="14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Días de validez</a:t>
            </a:r>
            <a:pPr indent="0" marL="0"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400" dirty="0"/>
          </a:p>
        </p:txBody>
      </p:sp>
      <p:sp>
        <p:nvSpPr>
          <p:cNvPr id="6" name="Paso 2"/>
          <p:cNvSpPr txBox="1"/>
          <p:nvPr/>
        </p:nvSpPr>
        <p:spPr>
          <a:xfrm>
            <a:off x="457200" y="1719072"/>
            <a:ext cx="310896" cy="310896"/>
          </a:xfrm>
          <a:prstGeom prst="ellipse">
            <a:avLst/>
          </a:prstGeom>
          <a:solidFill>
            <a:srgbClr val="B8904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7" name="Texto paso 2"/>
          <p:cNvSpPr txBox="1"/>
          <p:nvPr/>
        </p:nvSpPr>
        <p:spPr>
          <a:xfrm>
            <a:off x="896112" y="1664208"/>
            <a:ext cx="376732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Pulsa </a:t>
            </a:r>
            <a:pPr indent="0" marL="0">
              <a:buNone/>
            </a:pPr>
            <a:r>
              <a:rPr lang="en-US" sz="14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Generar invitación</a:t>
            </a:r>
            <a:pPr indent="0" marL="0"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400" dirty="0"/>
          </a:p>
        </p:txBody>
      </p:sp>
      <p:sp>
        <p:nvSpPr>
          <p:cNvPr id="8" name="Paso 3"/>
          <p:cNvSpPr txBox="1"/>
          <p:nvPr/>
        </p:nvSpPr>
        <p:spPr>
          <a:xfrm>
            <a:off x="457200" y="2322576"/>
            <a:ext cx="310896" cy="310896"/>
          </a:xfrm>
          <a:prstGeom prst="ellipse">
            <a:avLst/>
          </a:prstGeom>
          <a:solidFill>
            <a:srgbClr val="B8904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9" name="Texto paso 3"/>
          <p:cNvSpPr txBox="1"/>
          <p:nvPr/>
        </p:nvSpPr>
        <p:spPr>
          <a:xfrm>
            <a:off x="896112" y="2267712"/>
            <a:ext cx="376732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Copia el código ahora</a:t>
            </a:r>
            <a:pPr indent="0" marL="0"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no se vuelve a mostrar.</a:t>
            </a:r>
            <a:endParaRPr lang="en-US" sz="1400" dirty="0"/>
          </a:p>
        </p:txBody>
      </p:sp>
      <p:sp>
        <p:nvSpPr>
          <p:cNvPr id="10" name="Paso 4"/>
          <p:cNvSpPr txBox="1"/>
          <p:nvPr/>
        </p:nvSpPr>
        <p:spPr>
          <a:xfrm>
            <a:off x="457200" y="2926080"/>
            <a:ext cx="310896" cy="310896"/>
          </a:xfrm>
          <a:prstGeom prst="ellipse">
            <a:avLst/>
          </a:prstGeom>
          <a:solidFill>
            <a:srgbClr val="B8904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11" name="Texto paso 4"/>
          <p:cNvSpPr txBox="1"/>
          <p:nvPr/>
        </p:nvSpPr>
        <p:spPr>
          <a:xfrm>
            <a:off x="896112" y="2871216"/>
            <a:ext cx="376732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Revocar</a:t>
            </a:r>
            <a:pPr indent="0" marL="0"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anula una invitación pendiente.</a:t>
            </a:r>
            <a:endParaRPr lang="en-US" sz="1400" dirty="0"/>
          </a:p>
        </p:txBody>
      </p:sp>
      <p:pic>
        <p:nvPicPr>
          <p:cNvPr id="12" name="Captura 72" descr="Generar una invitación (código oculto en la captura)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37760" y="1005840"/>
            <a:ext cx="3749040" cy="3061965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B6B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43</a:t>
            </a:fld>
            <a:endParaRPr lang="en-US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6583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C3A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Invitar chefs desde un archivo</a:t>
            </a:r>
            <a:endParaRPr lang="en-US" sz="2600" dirty="0"/>
          </a:p>
        </p:txBody>
      </p:sp>
      <p:sp>
        <p:nvSpPr>
          <p:cNvPr id="3" name="Etiqueta solo gerente"/>
          <p:cNvSpPr txBox="1"/>
          <p:nvPr/>
        </p:nvSpPr>
        <p:spPr>
          <a:xfrm>
            <a:off x="7498080" y="438912"/>
            <a:ext cx="1188720" cy="274320"/>
          </a:xfrm>
          <a:prstGeom prst="roundRect">
            <a:avLst>
              <a:gd name="adj" fmla="val 20000"/>
            </a:avLst>
          </a:prstGeom>
          <a:solidFill>
            <a:srgbClr val="5C3A2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SOLO GERENTE</a:t>
            </a:r>
            <a:endParaRPr lang="en-US" sz="1000" dirty="0"/>
          </a:p>
        </p:txBody>
      </p:sp>
      <p:sp>
        <p:nvSpPr>
          <p:cNvPr id="4" name="Paso 1"/>
          <p:cNvSpPr txBox="1"/>
          <p:nvPr/>
        </p:nvSpPr>
        <p:spPr>
          <a:xfrm>
            <a:off x="457200" y="1115568"/>
            <a:ext cx="310896" cy="310896"/>
          </a:xfrm>
          <a:prstGeom prst="ellipse">
            <a:avLst/>
          </a:prstGeom>
          <a:solidFill>
            <a:srgbClr val="B8904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5" name="Texto paso 1"/>
          <p:cNvSpPr txBox="1"/>
          <p:nvPr/>
        </p:nvSpPr>
        <p:spPr>
          <a:xfrm>
            <a:off x="896112" y="1060704"/>
            <a:ext cx="376732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Descargar plantilla CSV</a:t>
            </a:r>
            <a:pPr indent="0" marL="0"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para ver el formato.</a:t>
            </a:r>
            <a:endParaRPr lang="en-US" sz="1400" dirty="0"/>
          </a:p>
        </p:txBody>
      </p:sp>
      <p:sp>
        <p:nvSpPr>
          <p:cNvPr id="6" name="Paso 2"/>
          <p:cNvSpPr txBox="1"/>
          <p:nvPr/>
        </p:nvSpPr>
        <p:spPr>
          <a:xfrm>
            <a:off x="457200" y="1719072"/>
            <a:ext cx="310896" cy="310896"/>
          </a:xfrm>
          <a:prstGeom prst="ellipse">
            <a:avLst/>
          </a:prstGeom>
          <a:solidFill>
            <a:srgbClr val="B8904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7" name="Texto paso 2"/>
          <p:cNvSpPr txBox="1"/>
          <p:nvPr/>
        </p:nvSpPr>
        <p:spPr>
          <a:xfrm>
            <a:off x="896112" y="1664208"/>
            <a:ext cx="376732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Prepara un CSV o Excel con una columna «email», un chef por fila.</a:t>
            </a:r>
            <a:endParaRPr lang="en-US" sz="1400" dirty="0"/>
          </a:p>
        </p:txBody>
      </p:sp>
      <p:sp>
        <p:nvSpPr>
          <p:cNvPr id="8" name="Paso 3"/>
          <p:cNvSpPr txBox="1"/>
          <p:nvPr/>
        </p:nvSpPr>
        <p:spPr>
          <a:xfrm>
            <a:off x="457200" y="2322576"/>
            <a:ext cx="310896" cy="310896"/>
          </a:xfrm>
          <a:prstGeom prst="ellipse">
            <a:avLst/>
          </a:prstGeom>
          <a:solidFill>
            <a:srgbClr val="B8904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9" name="Texto paso 3"/>
          <p:cNvSpPr txBox="1"/>
          <p:nvPr/>
        </p:nvSpPr>
        <p:spPr>
          <a:xfrm>
            <a:off x="896112" y="2267712"/>
            <a:ext cx="376732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Súbelo en </a:t>
            </a:r>
            <a:pPr indent="0" marL="0">
              <a:buNone/>
            </a:pPr>
            <a:r>
              <a:rPr lang="en-US" sz="14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Archivo de chefs (CSV o Excel)</a:t>
            </a:r>
            <a:pPr indent="0" marL="0"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400" dirty="0"/>
          </a:p>
        </p:txBody>
      </p:sp>
      <p:sp>
        <p:nvSpPr>
          <p:cNvPr id="10" name="Paso 4"/>
          <p:cNvSpPr txBox="1"/>
          <p:nvPr/>
        </p:nvSpPr>
        <p:spPr>
          <a:xfrm>
            <a:off x="457200" y="2926080"/>
            <a:ext cx="310896" cy="310896"/>
          </a:xfrm>
          <a:prstGeom prst="ellipse">
            <a:avLst/>
          </a:prstGeom>
          <a:solidFill>
            <a:srgbClr val="B8904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11" name="Texto paso 4"/>
          <p:cNvSpPr txBox="1"/>
          <p:nvPr/>
        </p:nvSpPr>
        <p:spPr>
          <a:xfrm>
            <a:off x="896112" y="2871216"/>
            <a:ext cx="376732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crea una invitación por email válido: descarga los códigos.</a:t>
            </a:r>
            <a:endParaRPr lang="en-US" sz="1400" dirty="0"/>
          </a:p>
        </p:txBody>
      </p:sp>
      <p:pic>
        <p:nvPicPr>
          <p:cNvPr id="12" name="Captura 72b" descr="Invitar chefs desde un archivo (CSV o Excel)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37760" y="1005840"/>
            <a:ext cx="3749040" cy="3269996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B6B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44</a:t>
            </a:fld>
            <a:endParaRPr lang="en-US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6583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C3A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Recetas de chefs: conceder acceso</a:t>
            </a:r>
            <a:endParaRPr lang="en-US" sz="2600" dirty="0"/>
          </a:p>
        </p:txBody>
      </p:sp>
      <p:sp>
        <p:nvSpPr>
          <p:cNvPr id="3" name="Etiqueta solo gerente"/>
          <p:cNvSpPr txBox="1"/>
          <p:nvPr/>
        </p:nvSpPr>
        <p:spPr>
          <a:xfrm>
            <a:off x="7498080" y="438912"/>
            <a:ext cx="1188720" cy="274320"/>
          </a:xfrm>
          <a:prstGeom prst="roundRect">
            <a:avLst>
              <a:gd name="adj" fmla="val 20000"/>
            </a:avLst>
          </a:prstGeom>
          <a:solidFill>
            <a:srgbClr val="5C3A2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SOLO GERENTE</a:t>
            </a:r>
            <a:endParaRPr lang="en-US" sz="1000" dirty="0"/>
          </a:p>
        </p:txBody>
      </p:sp>
      <p:sp>
        <p:nvSpPr>
          <p:cNvPr id="4" name="Paso 1"/>
          <p:cNvSpPr txBox="1"/>
          <p:nvPr/>
        </p:nvSpPr>
        <p:spPr>
          <a:xfrm>
            <a:off x="457200" y="1115568"/>
            <a:ext cx="310896" cy="310896"/>
          </a:xfrm>
          <a:prstGeom prst="ellipse">
            <a:avLst/>
          </a:prstGeom>
          <a:solidFill>
            <a:srgbClr val="B8904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5" name="Texto paso 1"/>
          <p:cNvSpPr txBox="1"/>
          <p:nvPr/>
        </p:nvSpPr>
        <p:spPr>
          <a:xfrm>
            <a:off x="896112" y="1060704"/>
            <a:ext cx="376732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Elige los </a:t>
            </a:r>
            <a:pPr indent="0" marL="0">
              <a:buNone/>
            </a:pPr>
            <a:r>
              <a:rPr lang="en-US" sz="14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chefs que reciben el acceso</a:t>
            </a:r>
            <a:pPr indent="0" marL="0"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400" dirty="0"/>
          </a:p>
        </p:txBody>
      </p:sp>
      <p:sp>
        <p:nvSpPr>
          <p:cNvPr id="6" name="Paso 2"/>
          <p:cNvSpPr txBox="1"/>
          <p:nvPr/>
        </p:nvSpPr>
        <p:spPr>
          <a:xfrm>
            <a:off x="457200" y="1847088"/>
            <a:ext cx="310896" cy="310896"/>
          </a:xfrm>
          <a:prstGeom prst="ellipse">
            <a:avLst/>
          </a:prstGeom>
          <a:solidFill>
            <a:srgbClr val="B8904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7" name="Texto paso 2"/>
          <p:cNvSpPr txBox="1"/>
          <p:nvPr/>
        </p:nvSpPr>
        <p:spPr>
          <a:xfrm>
            <a:off x="896112" y="1792224"/>
            <a:ext cx="376732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Acceso a</a:t>
            </a:r>
            <a:pPr indent="0" marL="0"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todas las recetas de unos propietarios (también las futuras) o recetas concretas.</a:t>
            </a:r>
            <a:endParaRPr lang="en-US" sz="1400" dirty="0"/>
          </a:p>
        </p:txBody>
      </p:sp>
      <p:sp>
        <p:nvSpPr>
          <p:cNvPr id="8" name="Paso 3"/>
          <p:cNvSpPr txBox="1"/>
          <p:nvPr/>
        </p:nvSpPr>
        <p:spPr>
          <a:xfrm>
            <a:off x="457200" y="2578608"/>
            <a:ext cx="310896" cy="310896"/>
          </a:xfrm>
          <a:prstGeom prst="ellipse">
            <a:avLst/>
          </a:prstGeom>
          <a:solidFill>
            <a:srgbClr val="B8904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9" name="Texto paso 3"/>
          <p:cNvSpPr txBox="1"/>
          <p:nvPr/>
        </p:nvSpPr>
        <p:spPr>
          <a:xfrm>
            <a:off x="896112" y="2523744"/>
            <a:ext cx="376732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Permiso</a:t>
            </a:r>
            <a:pPr indent="0" marL="0"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Solo lectura o Lectura y edición.</a:t>
            </a:r>
            <a:endParaRPr lang="en-US" sz="1400" dirty="0"/>
          </a:p>
        </p:txBody>
      </p:sp>
      <p:sp>
        <p:nvSpPr>
          <p:cNvPr id="10" name="Paso 4"/>
          <p:cNvSpPr txBox="1"/>
          <p:nvPr/>
        </p:nvSpPr>
        <p:spPr>
          <a:xfrm>
            <a:off x="457200" y="3310128"/>
            <a:ext cx="310896" cy="310896"/>
          </a:xfrm>
          <a:prstGeom prst="ellipse">
            <a:avLst/>
          </a:prstGeom>
          <a:solidFill>
            <a:srgbClr val="B8904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11" name="Texto paso 4"/>
          <p:cNvSpPr txBox="1"/>
          <p:nvPr/>
        </p:nvSpPr>
        <p:spPr>
          <a:xfrm>
            <a:off x="896112" y="3255264"/>
            <a:ext cx="376732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Pulsa </a:t>
            </a:r>
            <a:pPr indent="0" marL="0">
              <a:buNone/>
            </a:pPr>
            <a:r>
              <a:rPr lang="en-US" sz="14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Conceder acceso</a:t>
            </a:r>
            <a:pPr indent="0" marL="0"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(si ya existía, cambia el nivel).</a:t>
            </a:r>
            <a:endParaRPr lang="en-US" sz="1400" dirty="0"/>
          </a:p>
        </p:txBody>
      </p:sp>
      <p:pic>
        <p:nvPicPr>
          <p:cNvPr id="12" name="Captura 79a" descr="Recetas de chefs → Conceder acceso (correos de ejemplo)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19849" y="1005840"/>
            <a:ext cx="2984863" cy="3657600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B6B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45</a:t>
            </a:fld>
            <a:endParaRPr lang="en-US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6583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C3A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Permisos actuales y propietarios</a:t>
            </a:r>
            <a:endParaRPr lang="en-US" sz="2600" dirty="0"/>
          </a:p>
        </p:txBody>
      </p:sp>
      <p:sp>
        <p:nvSpPr>
          <p:cNvPr id="3" name="Etiqueta solo gerente"/>
          <p:cNvSpPr txBox="1"/>
          <p:nvPr/>
        </p:nvSpPr>
        <p:spPr>
          <a:xfrm>
            <a:off x="7498080" y="438912"/>
            <a:ext cx="1188720" cy="274320"/>
          </a:xfrm>
          <a:prstGeom prst="roundRect">
            <a:avLst>
              <a:gd name="adj" fmla="val 20000"/>
            </a:avLst>
          </a:prstGeom>
          <a:solidFill>
            <a:srgbClr val="5C3A2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SOLO GERENTE</a:t>
            </a:r>
            <a:endParaRPr lang="en-US" sz="1000" dirty="0"/>
          </a:p>
        </p:txBody>
      </p:sp>
      <p:sp>
        <p:nvSpPr>
          <p:cNvPr id="4" name="Puntos"/>
          <p:cNvSpPr txBox="1"/>
          <p:nvPr/>
        </p:nvSpPr>
        <p:spPr>
          <a:xfrm>
            <a:off x="457200" y="1097280"/>
            <a:ext cx="420624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200"/>
              </a:spcAft>
              <a:buNone/>
            </a:pPr>
            <a:r>
              <a:rPr lang="en-US" sz="14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Permisos actuales</a:t>
            </a:r>
            <a:pPr indent="0" marL="0">
              <a:spcAft>
                <a:spcPts val="1200"/>
              </a:spcAft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marca </a:t>
            </a:r>
            <a:pPr indent="0" marL="0">
              <a:spcAft>
                <a:spcPts val="1200"/>
              </a:spcAft>
              <a:buNone/>
            </a:pPr>
            <a:r>
              <a:rPr lang="en-US" sz="14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Quitar</a:t>
            </a:r>
            <a:pPr indent="0" marL="0">
              <a:spcAft>
                <a:spcPts val="1200"/>
              </a:spcAft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y pulsa </a:t>
            </a:r>
            <a:pPr indent="0" marL="0">
              <a:spcAft>
                <a:spcPts val="1200"/>
              </a:spcAft>
              <a:buNone/>
            </a:pPr>
            <a:r>
              <a:rPr lang="en-US" sz="14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Quitar seleccionados</a:t>
            </a:r>
            <a:pPr indent="0" marL="0">
              <a:spcAft>
                <a:spcPts val="1200"/>
              </a:spcAft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4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4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Propietario de recetas</a:t>
            </a:r>
            <a:pPr indent="0" marL="0">
              <a:spcAft>
                <a:spcPts val="1200"/>
              </a:spcAft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elige recetas, </a:t>
            </a:r>
            <a:pPr indent="0" marL="0">
              <a:spcAft>
                <a:spcPts val="1200"/>
              </a:spcAft>
              <a:buNone/>
            </a:pPr>
            <a:r>
              <a:rPr lang="en-US" sz="14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Nuevo propietario</a:t>
            </a:r>
            <a:pPr indent="0" marL="0">
              <a:spcAft>
                <a:spcPts val="1200"/>
              </a:spcAft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y </a:t>
            </a:r>
            <a:pPr indent="0" marL="0">
              <a:spcAft>
                <a:spcPts val="1200"/>
              </a:spcAft>
              <a:buNone/>
            </a:pPr>
            <a:r>
              <a:rPr lang="en-US" sz="14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Asignar propietario</a:t>
            </a:r>
            <a:pPr indent="0" marL="0">
              <a:spcAft>
                <a:spcPts val="1200"/>
              </a:spcAft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4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«Mostrar solo recetas sin propietario» localiza las recetas antiguas sin dueño.</a:t>
            </a:r>
            <a:endParaRPr lang="en-US" sz="1400" dirty="0"/>
          </a:p>
        </p:txBody>
      </p:sp>
      <p:pic>
        <p:nvPicPr>
          <p:cNvPr id="5" name="Captura 79b" descr="Recetas de chefs → Permisos actuales (correos de ejemplo)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5281" y="1005840"/>
            <a:ext cx="3573998" cy="1737360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pic>
      <p:pic>
        <p:nvPicPr>
          <p:cNvPr id="6" name="Captura 79c" descr="Recetas de chefs → Propietario de recetas (correo de ejemplo)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57746" y="2926080"/>
            <a:ext cx="2909068" cy="1737360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B6B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46</a:t>
            </a:fld>
            <a:endParaRPr lang="en-US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6583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C3A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Datos de la organización y logo</a:t>
            </a:r>
            <a:endParaRPr lang="en-US" sz="2600" dirty="0"/>
          </a:p>
        </p:txBody>
      </p:sp>
      <p:sp>
        <p:nvSpPr>
          <p:cNvPr id="3" name="Etiqueta solo gerente"/>
          <p:cNvSpPr txBox="1"/>
          <p:nvPr/>
        </p:nvSpPr>
        <p:spPr>
          <a:xfrm>
            <a:off x="7498080" y="438912"/>
            <a:ext cx="1188720" cy="274320"/>
          </a:xfrm>
          <a:prstGeom prst="roundRect">
            <a:avLst>
              <a:gd name="adj" fmla="val 20000"/>
            </a:avLst>
          </a:prstGeom>
          <a:solidFill>
            <a:srgbClr val="5C3A2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SOLO GERENTE</a:t>
            </a:r>
            <a:endParaRPr lang="en-US" sz="1000" dirty="0"/>
          </a:p>
        </p:txBody>
      </p:sp>
      <p:sp>
        <p:nvSpPr>
          <p:cNvPr id="4" name="Paso 1"/>
          <p:cNvSpPr txBox="1"/>
          <p:nvPr/>
        </p:nvSpPr>
        <p:spPr>
          <a:xfrm>
            <a:off x="457200" y="1115568"/>
            <a:ext cx="310896" cy="310896"/>
          </a:xfrm>
          <a:prstGeom prst="ellipse">
            <a:avLst/>
          </a:prstGeom>
          <a:solidFill>
            <a:srgbClr val="B8904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5" name="Texto paso 1"/>
          <p:cNvSpPr txBox="1"/>
          <p:nvPr/>
        </p:nvSpPr>
        <p:spPr>
          <a:xfrm>
            <a:off x="896112" y="1060704"/>
            <a:ext cx="376732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Rellena razón social, </a:t>
            </a:r>
            <a:pPr indent="0" marL="0">
              <a:buNone/>
            </a:pPr>
            <a:r>
              <a:rPr lang="en-US" sz="14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NIF/CIF</a:t>
            </a:r>
            <a:pPr indent="0" marL="0"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y dirección fiscal.</a:t>
            </a:r>
            <a:endParaRPr lang="en-US" sz="1400" dirty="0"/>
          </a:p>
        </p:txBody>
      </p:sp>
      <p:sp>
        <p:nvSpPr>
          <p:cNvPr id="6" name="Paso 2"/>
          <p:cNvSpPr txBox="1"/>
          <p:nvPr/>
        </p:nvSpPr>
        <p:spPr>
          <a:xfrm>
            <a:off x="457200" y="1719072"/>
            <a:ext cx="310896" cy="310896"/>
          </a:xfrm>
          <a:prstGeom prst="ellipse">
            <a:avLst/>
          </a:prstGeom>
          <a:solidFill>
            <a:srgbClr val="B8904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7" name="Texto paso 2"/>
          <p:cNvSpPr txBox="1"/>
          <p:nvPr/>
        </p:nvSpPr>
        <p:spPr>
          <a:xfrm>
            <a:off x="896112" y="1664208"/>
            <a:ext cx="376732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 el </a:t>
            </a:r>
            <a:pPr indent="0" marL="0">
              <a:buNone/>
            </a:pPr>
            <a:r>
              <a:rPr lang="en-US" sz="14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IVA por defecto (%)</a:t>
            </a:r>
            <a:pPr indent="0" marL="0"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y pulsa </a:t>
            </a:r>
            <a:pPr indent="0" marL="0">
              <a:buNone/>
            </a:pPr>
            <a:r>
              <a:rPr lang="en-US" sz="14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Guardar datos</a:t>
            </a:r>
            <a:pPr indent="0" marL="0"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400" dirty="0"/>
          </a:p>
        </p:txBody>
      </p:sp>
      <p:sp>
        <p:nvSpPr>
          <p:cNvPr id="8" name="Paso 3"/>
          <p:cNvSpPr txBox="1"/>
          <p:nvPr/>
        </p:nvSpPr>
        <p:spPr>
          <a:xfrm>
            <a:off x="457200" y="2322576"/>
            <a:ext cx="310896" cy="310896"/>
          </a:xfrm>
          <a:prstGeom prst="ellipse">
            <a:avLst/>
          </a:prstGeom>
          <a:solidFill>
            <a:srgbClr val="B8904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9" name="Texto paso 3"/>
          <p:cNvSpPr txBox="1"/>
          <p:nvPr/>
        </p:nvSpPr>
        <p:spPr>
          <a:xfrm>
            <a:off x="896112" y="2267712"/>
            <a:ext cx="376732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Sube el logo (PNG, JPG o WEBP, máx. 300 KB).</a:t>
            </a:r>
            <a:endParaRPr lang="en-US" sz="1400" dirty="0"/>
          </a:p>
        </p:txBody>
      </p:sp>
      <p:sp>
        <p:nvSpPr>
          <p:cNvPr id="10" name="Paso 4"/>
          <p:cNvSpPr txBox="1"/>
          <p:nvPr/>
        </p:nvSpPr>
        <p:spPr>
          <a:xfrm>
            <a:off x="457200" y="2926080"/>
            <a:ext cx="310896" cy="310896"/>
          </a:xfrm>
          <a:prstGeom prst="ellipse">
            <a:avLst/>
          </a:prstGeom>
          <a:solidFill>
            <a:srgbClr val="B8904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11" name="Texto paso 4"/>
          <p:cNvSpPr txBox="1"/>
          <p:nvPr/>
        </p:nvSpPr>
        <p:spPr>
          <a:xfrm>
            <a:off x="896112" y="2871216"/>
            <a:ext cx="376732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Pulsa </a:t>
            </a:r>
            <a:pPr indent="0" marL="0">
              <a:buNone/>
            </a:pPr>
            <a:r>
              <a:rPr lang="en-US" sz="14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Guardar logo</a:t>
            </a:r>
            <a:pPr indent="0" marL="0"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(o </a:t>
            </a:r>
            <a:pPr indent="0" marL="0">
              <a:buNone/>
            </a:pPr>
            <a:r>
              <a:rPr lang="en-US" sz="14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Quitar logo</a:t>
            </a:r>
            <a:pPr indent="0" marL="0"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).</a:t>
            </a:r>
            <a:endParaRPr lang="en-US" sz="1400" dirty="0"/>
          </a:p>
        </p:txBody>
      </p:sp>
      <p:pic>
        <p:nvPicPr>
          <p:cNvPr id="12" name="Captura 74" descr="Subir y guardar el logotip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37760" y="1005840"/>
            <a:ext cx="3749040" cy="3136647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B6B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47</a:t>
            </a:fld>
            <a:endParaRPr lang="en-US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6583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C3A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Precios propios</a:t>
            </a:r>
            <a:endParaRPr lang="en-US" sz="2600" dirty="0"/>
          </a:p>
        </p:txBody>
      </p:sp>
      <p:sp>
        <p:nvSpPr>
          <p:cNvPr id="3" name="Etiqueta solo gerente"/>
          <p:cNvSpPr txBox="1"/>
          <p:nvPr/>
        </p:nvSpPr>
        <p:spPr>
          <a:xfrm>
            <a:off x="7498080" y="438912"/>
            <a:ext cx="1188720" cy="274320"/>
          </a:xfrm>
          <a:prstGeom prst="roundRect">
            <a:avLst>
              <a:gd name="adj" fmla="val 20000"/>
            </a:avLst>
          </a:prstGeom>
          <a:solidFill>
            <a:srgbClr val="5C3A2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SOLO GERENTE</a:t>
            </a:r>
            <a:endParaRPr lang="en-US" sz="1000" dirty="0"/>
          </a:p>
        </p:txBody>
      </p:sp>
      <p:sp>
        <p:nvSpPr>
          <p:cNvPr id="4" name="Paso 1"/>
          <p:cNvSpPr txBox="1"/>
          <p:nvPr/>
        </p:nvSpPr>
        <p:spPr>
          <a:xfrm>
            <a:off x="457200" y="1115568"/>
            <a:ext cx="310896" cy="310896"/>
          </a:xfrm>
          <a:prstGeom prst="ellipse">
            <a:avLst/>
          </a:prstGeom>
          <a:solidFill>
            <a:srgbClr val="B8904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5" name="Texto paso 1"/>
          <p:cNvSpPr txBox="1"/>
          <p:nvPr/>
        </p:nvSpPr>
        <p:spPr>
          <a:xfrm>
            <a:off x="896112" y="1060704"/>
            <a:ext cx="376732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Inventario propio</a:t>
            </a:r>
            <a:pPr indent="0" marL="0"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→ busca el ingrediente del catálogo.</a:t>
            </a:r>
            <a:endParaRPr lang="en-US" sz="1400" dirty="0"/>
          </a:p>
        </p:txBody>
      </p:sp>
      <p:sp>
        <p:nvSpPr>
          <p:cNvPr id="6" name="Paso 2"/>
          <p:cNvSpPr txBox="1"/>
          <p:nvPr/>
        </p:nvSpPr>
        <p:spPr>
          <a:xfrm>
            <a:off x="457200" y="1719072"/>
            <a:ext cx="310896" cy="310896"/>
          </a:xfrm>
          <a:prstGeom prst="ellipse">
            <a:avLst/>
          </a:prstGeom>
          <a:solidFill>
            <a:srgbClr val="B8904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7" name="Texto paso 2"/>
          <p:cNvSpPr txBox="1"/>
          <p:nvPr/>
        </p:nvSpPr>
        <p:spPr>
          <a:xfrm>
            <a:off x="896112" y="1664208"/>
            <a:ext cx="376732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Escribe </a:t>
            </a:r>
            <a:pPr indent="0" marL="0">
              <a:buNone/>
            </a:pPr>
            <a:r>
              <a:rPr lang="en-US" sz="14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Precio/unidad (€)</a:t>
            </a:r>
            <a:pPr indent="0" marL="0"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y </a:t>
            </a:r>
            <a:pPr indent="0" marL="0">
              <a:buNone/>
            </a:pPr>
            <a:r>
              <a:rPr lang="en-US" sz="14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Merma (%)</a:t>
            </a:r>
            <a:pPr indent="0" marL="0"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400" dirty="0"/>
          </a:p>
        </p:txBody>
      </p:sp>
      <p:sp>
        <p:nvSpPr>
          <p:cNvPr id="8" name="Paso 3"/>
          <p:cNvSpPr txBox="1"/>
          <p:nvPr/>
        </p:nvSpPr>
        <p:spPr>
          <a:xfrm>
            <a:off x="457200" y="2322576"/>
            <a:ext cx="310896" cy="310896"/>
          </a:xfrm>
          <a:prstGeom prst="ellipse">
            <a:avLst/>
          </a:prstGeom>
          <a:solidFill>
            <a:srgbClr val="B8904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9" name="Texto paso 3"/>
          <p:cNvSpPr txBox="1"/>
          <p:nvPr/>
        </p:nvSpPr>
        <p:spPr>
          <a:xfrm>
            <a:off x="896112" y="2267712"/>
            <a:ext cx="376732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Pulsa </a:t>
            </a:r>
            <a:pPr indent="0" marL="0">
              <a:buNone/>
            </a:pPr>
            <a:r>
              <a:rPr lang="en-US" sz="14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Guardar precio propio</a:t>
            </a:r>
            <a:pPr indent="0" marL="0"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400" dirty="0"/>
          </a:p>
        </p:txBody>
      </p:sp>
      <p:sp>
        <p:nvSpPr>
          <p:cNvPr id="10" name="Paso 4"/>
          <p:cNvSpPr txBox="1"/>
          <p:nvPr/>
        </p:nvSpPr>
        <p:spPr>
          <a:xfrm>
            <a:off x="457200" y="2926080"/>
            <a:ext cx="310896" cy="310896"/>
          </a:xfrm>
          <a:prstGeom prst="ellipse">
            <a:avLst/>
          </a:prstGeom>
          <a:solidFill>
            <a:srgbClr val="B8904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11" name="Texto paso 4"/>
          <p:cNvSpPr txBox="1"/>
          <p:nvPr/>
        </p:nvSpPr>
        <p:spPr>
          <a:xfrm>
            <a:off x="896112" y="2871216"/>
            <a:ext cx="376732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Tus recetas usarán tu precio.</a:t>
            </a:r>
            <a:endParaRPr lang="en-US" sz="1400" dirty="0"/>
          </a:p>
        </p:txBody>
      </p:sp>
      <p:pic>
        <p:nvPicPr>
          <p:cNvPr id="12" name="Captura 75" descr="Precio propio de un ingrediente del catá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106644" y="1005840"/>
            <a:ext cx="3411272" cy="3657600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B6B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48</a:t>
            </a:fld>
            <a:endParaRPr lang="en-US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6583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C3A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Ingredientes privados</a:t>
            </a:r>
            <a:endParaRPr lang="en-US" sz="2600" dirty="0"/>
          </a:p>
        </p:txBody>
      </p:sp>
      <p:sp>
        <p:nvSpPr>
          <p:cNvPr id="3" name="Etiqueta solo gerente"/>
          <p:cNvSpPr txBox="1"/>
          <p:nvPr/>
        </p:nvSpPr>
        <p:spPr>
          <a:xfrm>
            <a:off x="7498080" y="438912"/>
            <a:ext cx="1188720" cy="274320"/>
          </a:xfrm>
          <a:prstGeom prst="roundRect">
            <a:avLst>
              <a:gd name="adj" fmla="val 20000"/>
            </a:avLst>
          </a:prstGeom>
          <a:solidFill>
            <a:srgbClr val="5C3A2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SOLO GERENTE</a:t>
            </a:r>
            <a:endParaRPr lang="en-US" sz="1000" dirty="0"/>
          </a:p>
        </p:txBody>
      </p:sp>
      <p:sp>
        <p:nvSpPr>
          <p:cNvPr id="4" name="Paso 1"/>
          <p:cNvSpPr txBox="1"/>
          <p:nvPr/>
        </p:nvSpPr>
        <p:spPr>
          <a:xfrm>
            <a:off x="457200" y="1115568"/>
            <a:ext cx="310896" cy="310896"/>
          </a:xfrm>
          <a:prstGeom prst="ellipse">
            <a:avLst/>
          </a:prstGeom>
          <a:solidFill>
            <a:srgbClr val="B8904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5" name="Texto paso 1"/>
          <p:cNvSpPr txBox="1"/>
          <p:nvPr/>
        </p:nvSpPr>
        <p:spPr>
          <a:xfrm>
            <a:off x="896112" y="1060704"/>
            <a:ext cx="376732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Añadir ingrediente privado</a:t>
            </a:r>
            <a:pPr indent="0" marL="0"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descripción, familia y unidad.</a:t>
            </a:r>
            <a:endParaRPr lang="en-US" sz="1400" dirty="0"/>
          </a:p>
        </p:txBody>
      </p:sp>
      <p:sp>
        <p:nvSpPr>
          <p:cNvPr id="6" name="Paso 2"/>
          <p:cNvSpPr txBox="1"/>
          <p:nvPr/>
        </p:nvSpPr>
        <p:spPr>
          <a:xfrm>
            <a:off x="457200" y="1719072"/>
            <a:ext cx="310896" cy="310896"/>
          </a:xfrm>
          <a:prstGeom prst="ellipse">
            <a:avLst/>
          </a:prstGeom>
          <a:solidFill>
            <a:srgbClr val="B8904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7" name="Texto paso 2"/>
          <p:cNvSpPr txBox="1"/>
          <p:nvPr/>
        </p:nvSpPr>
        <p:spPr>
          <a:xfrm>
            <a:off x="896112" y="1664208"/>
            <a:ext cx="376732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Obligatorio</a:t>
            </a:r>
            <a:pPr indent="0" marL="0"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declara sus </a:t>
            </a:r>
            <a:pPr indent="0" marL="0">
              <a:buNone/>
            </a:pPr>
            <a:r>
              <a:rPr lang="en-US" sz="14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Alérgenos</a:t>
            </a:r>
            <a:pPr indent="0" marL="0"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 marca «No contiene ninguno».</a:t>
            </a:r>
            <a:endParaRPr lang="en-US" sz="1400" dirty="0"/>
          </a:p>
        </p:txBody>
      </p:sp>
      <p:sp>
        <p:nvSpPr>
          <p:cNvPr id="8" name="Paso 3"/>
          <p:cNvSpPr txBox="1"/>
          <p:nvPr/>
        </p:nvSpPr>
        <p:spPr>
          <a:xfrm>
            <a:off x="457200" y="2322576"/>
            <a:ext cx="310896" cy="310896"/>
          </a:xfrm>
          <a:prstGeom prst="ellipse">
            <a:avLst/>
          </a:prstGeom>
          <a:solidFill>
            <a:srgbClr val="B8904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9" name="Texto paso 3"/>
          <p:cNvSpPr txBox="1"/>
          <p:nvPr/>
        </p:nvSpPr>
        <p:spPr>
          <a:xfrm>
            <a:off x="896112" y="2267712"/>
            <a:ext cx="376732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Pulsa </a:t>
            </a:r>
            <a:pPr indent="0" marL="0">
              <a:buNone/>
            </a:pPr>
            <a:r>
              <a:rPr lang="en-US" sz="14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Crear ingrediente privado</a:t>
            </a:r>
            <a:pPr indent="0" marL="0"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(código P-…).</a:t>
            </a:r>
            <a:endParaRPr lang="en-US" sz="1400" dirty="0"/>
          </a:p>
        </p:txBody>
      </p:sp>
      <p:sp>
        <p:nvSpPr>
          <p:cNvPr id="10" name="Aviso"/>
          <p:cNvSpPr/>
          <p:nvPr/>
        </p:nvSpPr>
        <p:spPr>
          <a:xfrm>
            <a:off x="457200" y="3931920"/>
            <a:ext cx="4206240" cy="685800"/>
          </a:xfrm>
          <a:prstGeom prst="roundRect">
            <a:avLst>
              <a:gd name="adj" fmla="val 10667"/>
            </a:avLst>
          </a:prstGeom>
          <a:solidFill>
            <a:srgbClr val="FBF3E4"/>
          </a:solidFill>
          <a:ln w="15875">
            <a:solidFill>
              <a:srgbClr val="A93226"/>
            </a:solidFill>
            <a:prstDash val="solid"/>
          </a:ln>
        </p:spPr>
      </p:sp>
      <p:sp>
        <p:nvSpPr>
          <p:cNvPr id="11" name="Icono aviso"/>
          <p:cNvSpPr txBox="1"/>
          <p:nvPr/>
        </p:nvSpPr>
        <p:spPr>
          <a:xfrm>
            <a:off x="594360" y="4119372"/>
            <a:ext cx="310896" cy="310896"/>
          </a:xfrm>
          <a:prstGeom prst="ellipse">
            <a:avLst/>
          </a:prstGeom>
          <a:solidFill>
            <a:srgbClr val="A9322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!</a:t>
            </a:r>
            <a:endParaRPr lang="en-US" sz="1400" dirty="0"/>
          </a:p>
        </p:txBody>
      </p:sp>
      <p:sp>
        <p:nvSpPr>
          <p:cNvPr id="12" name="Texto aviso"/>
          <p:cNvSpPr txBox="1"/>
          <p:nvPr/>
        </p:nvSpPr>
        <p:spPr>
          <a:xfrm>
            <a:off x="1024128" y="3931920"/>
            <a:ext cx="3520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⚠️ = alérgenos </a:t>
            </a:r>
            <a:pPr indent="0" marL="0">
              <a:buNone/>
            </a:pPr>
            <a:r>
              <a:rPr lang="en-US" sz="12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pendientes de revisión</a:t>
            </a:r>
            <a:pPr indent="0" marL="0">
              <a:buNone/>
            </a:pPr>
            <a:r>
              <a:rPr lang="en-US" sz="12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Revísalos antes de usarlos.</a:t>
            </a:r>
            <a:endParaRPr lang="en-US" sz="1200" dirty="0"/>
          </a:p>
        </p:txBody>
      </p:sp>
      <p:pic>
        <p:nvPicPr>
          <p:cNvPr id="13" name="Captura 76" descr="Añadir un ingrediente privado con sus alérgeno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95407" y="1005840"/>
            <a:ext cx="3633746" cy="3657600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B6B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49</a:t>
            </a:fld>
            <a:endParaRPr lang="en-US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6583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C3A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Compartir recetas</a:t>
            </a:r>
            <a:endParaRPr lang="en-US" sz="2600" dirty="0"/>
          </a:p>
        </p:txBody>
      </p:sp>
      <p:sp>
        <p:nvSpPr>
          <p:cNvPr id="3" name="Etiqueta solo gerente"/>
          <p:cNvSpPr txBox="1"/>
          <p:nvPr/>
        </p:nvSpPr>
        <p:spPr>
          <a:xfrm>
            <a:off x="7498080" y="438912"/>
            <a:ext cx="1188720" cy="274320"/>
          </a:xfrm>
          <a:prstGeom prst="roundRect">
            <a:avLst>
              <a:gd name="adj" fmla="val 20000"/>
            </a:avLst>
          </a:prstGeom>
          <a:solidFill>
            <a:srgbClr val="5C3A2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SOLO GERENTE</a:t>
            </a:r>
            <a:endParaRPr lang="en-US" sz="1000" dirty="0"/>
          </a:p>
        </p:txBody>
      </p:sp>
      <p:sp>
        <p:nvSpPr>
          <p:cNvPr id="4" name="Paso 1"/>
          <p:cNvSpPr txBox="1"/>
          <p:nvPr/>
        </p:nvSpPr>
        <p:spPr>
          <a:xfrm>
            <a:off x="457200" y="1115568"/>
            <a:ext cx="310896" cy="310896"/>
          </a:xfrm>
          <a:prstGeom prst="ellipse">
            <a:avLst/>
          </a:prstGeom>
          <a:solidFill>
            <a:srgbClr val="B8904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5" name="Texto paso 1"/>
          <p:cNvSpPr txBox="1"/>
          <p:nvPr/>
        </p:nvSpPr>
        <p:spPr>
          <a:xfrm>
            <a:off x="896112" y="1060704"/>
            <a:ext cx="376732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Compartir recetas</a:t>
            </a:r>
            <a:pPr indent="0" marL="0"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→ elige la receta.</a:t>
            </a:r>
            <a:endParaRPr lang="en-US" sz="1400" dirty="0"/>
          </a:p>
        </p:txBody>
      </p:sp>
      <p:sp>
        <p:nvSpPr>
          <p:cNvPr id="6" name="Paso 2"/>
          <p:cNvSpPr txBox="1"/>
          <p:nvPr/>
        </p:nvSpPr>
        <p:spPr>
          <a:xfrm>
            <a:off x="457200" y="1719072"/>
            <a:ext cx="310896" cy="310896"/>
          </a:xfrm>
          <a:prstGeom prst="ellipse">
            <a:avLst/>
          </a:prstGeom>
          <a:solidFill>
            <a:srgbClr val="B8904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7" name="Texto paso 2"/>
          <p:cNvSpPr txBox="1"/>
          <p:nvPr/>
        </p:nvSpPr>
        <p:spPr>
          <a:xfrm>
            <a:off x="896112" y="1664208"/>
            <a:ext cx="376732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Elige el </a:t>
            </a:r>
            <a:pPr indent="0" marL="0">
              <a:buNone/>
            </a:pPr>
            <a:r>
              <a:rPr lang="en-US" sz="14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Destino</a:t>
            </a:r>
            <a:pPr indent="0" marL="0"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una organización o todas.</a:t>
            </a:r>
            <a:endParaRPr lang="en-US" sz="1400" dirty="0"/>
          </a:p>
        </p:txBody>
      </p:sp>
      <p:sp>
        <p:nvSpPr>
          <p:cNvPr id="8" name="Paso 3"/>
          <p:cNvSpPr txBox="1"/>
          <p:nvPr/>
        </p:nvSpPr>
        <p:spPr>
          <a:xfrm>
            <a:off x="457200" y="2322576"/>
            <a:ext cx="310896" cy="310896"/>
          </a:xfrm>
          <a:prstGeom prst="ellipse">
            <a:avLst/>
          </a:prstGeom>
          <a:solidFill>
            <a:srgbClr val="B8904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9" name="Texto paso 3"/>
          <p:cNvSpPr txBox="1"/>
          <p:nvPr/>
        </p:nvSpPr>
        <p:spPr>
          <a:xfrm>
            <a:off x="896112" y="2267712"/>
            <a:ext cx="376732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Pulsa </a:t>
            </a:r>
            <a:pPr indent="0" marL="0">
              <a:buNone/>
            </a:pPr>
            <a:r>
              <a:rPr lang="en-US" sz="14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Compartir</a:t>
            </a:r>
            <a:pPr indent="0" marL="0"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400" dirty="0"/>
          </a:p>
        </p:txBody>
      </p:sp>
      <p:sp>
        <p:nvSpPr>
          <p:cNvPr id="10" name="Paso 4"/>
          <p:cNvSpPr txBox="1"/>
          <p:nvPr/>
        </p:nvSpPr>
        <p:spPr>
          <a:xfrm>
            <a:off x="457200" y="2926080"/>
            <a:ext cx="310896" cy="310896"/>
          </a:xfrm>
          <a:prstGeom prst="ellipse">
            <a:avLst/>
          </a:prstGeom>
          <a:solidFill>
            <a:srgbClr val="B8904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11" name="Texto paso 4"/>
          <p:cNvSpPr txBox="1"/>
          <p:nvPr/>
        </p:nvSpPr>
        <p:spPr>
          <a:xfrm>
            <a:off x="896112" y="2871216"/>
            <a:ext cx="376732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Comparticiones activas</a:t>
            </a:r>
            <a:pPr indent="0" marL="0"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→ </a:t>
            </a:r>
            <a:pPr indent="0" marL="0">
              <a:buNone/>
            </a:pPr>
            <a:r>
              <a:rPr lang="en-US" sz="14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Desactivar</a:t>
            </a:r>
            <a:pPr indent="0" marL="0"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para dejar de compartir.</a:t>
            </a:r>
            <a:endParaRPr lang="en-US" sz="1400" dirty="0"/>
          </a:p>
        </p:txBody>
      </p:sp>
      <p:pic>
        <p:nvPicPr>
          <p:cNvPr id="12" name="Captura 77" descr="Compartir una receta con otra organizació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09290" y="1005840"/>
            <a:ext cx="2405980" cy="1737360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pic>
      <p:pic>
        <p:nvPicPr>
          <p:cNvPr id="13" name="Captura 78" descr="Comparticiones activas de la organización (destino oculto en la captura)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58169" y="2926080"/>
            <a:ext cx="3308223" cy="1737360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B6B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50</a:t>
            </a:fld>
            <a:endParaRPr lang="en-US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6583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C3A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Preguntas frecuentes</a:t>
            </a:r>
            <a:endParaRPr lang="en-US" sz="2600" dirty="0"/>
          </a:p>
        </p:txBody>
      </p:sp>
      <p:sp>
        <p:nvSpPr>
          <p:cNvPr id="3" name="FAQ 1"/>
          <p:cNvSpPr/>
          <p:nvPr/>
        </p:nvSpPr>
        <p:spPr>
          <a:xfrm>
            <a:off x="457200" y="1051560"/>
            <a:ext cx="4023360" cy="1051560"/>
          </a:xfrm>
          <a:prstGeom prst="roundRect">
            <a:avLst>
              <a:gd name="adj" fmla="val 6957"/>
            </a:avLst>
          </a:prstGeom>
          <a:solidFill>
            <a:srgbClr val="F7F1E6"/>
          </a:solidFill>
          <a:ln w="12700">
            <a:solidFill>
              <a:srgbClr val="E8CD9A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11430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C3A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veo «Gerente»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508760"/>
            <a:ext cx="3657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Solo lo ven los gerentes. Prueba </a:t>
            </a:r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Recargar permisos</a:t>
            </a:r>
            <a:pPr indent="0" marL="0">
              <a:buNone/>
            </a:pPr>
            <a:r>
              <a:rPr lang="en-US" sz="13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300" dirty="0"/>
          </a:p>
        </p:txBody>
      </p:sp>
      <p:sp>
        <p:nvSpPr>
          <p:cNvPr id="6" name="FAQ 2"/>
          <p:cNvSpPr/>
          <p:nvPr/>
        </p:nvSpPr>
        <p:spPr>
          <a:xfrm>
            <a:off x="4663440" y="1051560"/>
            <a:ext cx="4023360" cy="1051560"/>
          </a:xfrm>
          <a:prstGeom prst="roundRect">
            <a:avLst>
              <a:gd name="adj" fmla="val 6957"/>
            </a:avLst>
          </a:prstGeom>
          <a:solidFill>
            <a:srgbClr val="F7F1E6"/>
          </a:solidFill>
          <a:ln w="12700">
            <a:solidFill>
              <a:srgbClr val="E8CD9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846320" y="11430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C3A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puedo emitir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4846320" y="1508760"/>
            <a:ext cx="3657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Solo el gerente, sobre un borrador guardado y con datos fiscales.</a:t>
            </a:r>
            <a:endParaRPr lang="en-US" sz="1300" dirty="0"/>
          </a:p>
        </p:txBody>
      </p:sp>
      <p:sp>
        <p:nvSpPr>
          <p:cNvPr id="9" name="FAQ 3"/>
          <p:cNvSpPr/>
          <p:nvPr/>
        </p:nvSpPr>
        <p:spPr>
          <a:xfrm>
            <a:off x="457200" y="2240280"/>
            <a:ext cx="4023360" cy="1051560"/>
          </a:xfrm>
          <a:prstGeom prst="roundRect">
            <a:avLst>
              <a:gd name="adj" fmla="val 6957"/>
            </a:avLst>
          </a:prstGeom>
          <a:solidFill>
            <a:srgbClr val="F7F1E6"/>
          </a:solidFill>
          <a:ln w="12700">
            <a:solidFill>
              <a:srgbClr val="E8CD9A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0080" y="23317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C3A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 en una factura emitida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2697480"/>
            <a:ext cx="3657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 una </a:t>
            </a:r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rectificativa</a:t>
            </a:r>
            <a:pPr indent="0" marL="0">
              <a:buNone/>
            </a:pPr>
            <a:r>
              <a:rPr lang="en-US" sz="13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300" dirty="0"/>
          </a:p>
        </p:txBody>
      </p:sp>
      <p:sp>
        <p:nvSpPr>
          <p:cNvPr id="12" name="FAQ 4"/>
          <p:cNvSpPr/>
          <p:nvPr/>
        </p:nvSpPr>
        <p:spPr>
          <a:xfrm>
            <a:off x="4663440" y="2240280"/>
            <a:ext cx="4023360" cy="1051560"/>
          </a:xfrm>
          <a:prstGeom prst="roundRect">
            <a:avLst>
              <a:gd name="adj" fmla="val 6957"/>
            </a:avLst>
          </a:prstGeom>
          <a:solidFill>
            <a:srgbClr val="F7F1E6"/>
          </a:solidFill>
          <a:ln w="12700">
            <a:solidFill>
              <a:srgbClr val="E8CD9A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846320" y="23317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C3A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PVP o Food Cost en «-»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4846320" y="2697480"/>
            <a:ext cx="3657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Faltan cantidades o precios en los ingredientes.</a:t>
            </a:r>
            <a:endParaRPr lang="en-US" sz="1300" dirty="0"/>
          </a:p>
        </p:txBody>
      </p:sp>
      <p:sp>
        <p:nvSpPr>
          <p:cNvPr id="15" name="FAQ 5"/>
          <p:cNvSpPr/>
          <p:nvPr/>
        </p:nvSpPr>
        <p:spPr>
          <a:xfrm>
            <a:off x="457200" y="3429000"/>
            <a:ext cx="4023360" cy="1051560"/>
          </a:xfrm>
          <a:prstGeom prst="roundRect">
            <a:avLst>
              <a:gd name="adj" fmla="val 6957"/>
            </a:avLst>
          </a:prstGeom>
          <a:solidFill>
            <a:srgbClr val="F7F1E6"/>
          </a:solidFill>
          <a:ln w="12700">
            <a:solidFill>
              <a:srgbClr val="E8CD9A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0080" y="35204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C3A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Perdí un código de invitación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640080" y="3886200"/>
            <a:ext cx="3657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Revoca la invitación y genera otra.</a:t>
            </a:r>
            <a:endParaRPr lang="en-US" sz="1300" dirty="0"/>
          </a:p>
        </p:txBody>
      </p:sp>
      <p:sp>
        <p:nvSpPr>
          <p:cNvPr id="18" name="FAQ 6"/>
          <p:cNvSpPr/>
          <p:nvPr/>
        </p:nvSpPr>
        <p:spPr>
          <a:xfrm>
            <a:off x="4663440" y="3429000"/>
            <a:ext cx="4023360" cy="1051560"/>
          </a:xfrm>
          <a:prstGeom prst="roundRect">
            <a:avLst>
              <a:gd name="adj" fmla="val 6957"/>
            </a:avLst>
          </a:prstGeom>
          <a:solidFill>
            <a:srgbClr val="F7F1E6"/>
          </a:solidFill>
          <a:ln w="12700">
            <a:solidFill>
              <a:srgbClr val="E8CD9A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846320" y="35204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C3A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Aviso de alérgenos al copiar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4846320" y="3886200"/>
            <a:ext cx="3657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gerente revisa los privados en </a:t>
            </a:r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Inventario propio</a:t>
            </a:r>
            <a:pPr indent="0" marL="0">
              <a:buNone/>
            </a:pPr>
            <a:r>
              <a:rPr lang="en-US" sz="13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B6B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51</a:t>
            </a:fld>
            <a:endParaRPr lang="en-US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64008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Recuerda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600200"/>
            <a:ext cx="457200" cy="457200"/>
          </a:xfrm>
          <a:prstGeom prst="ellipse">
            <a:avLst/>
          </a:prstGeom>
          <a:solidFill>
            <a:srgbClr val="B8904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1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325880" y="1508760"/>
            <a:ext cx="7223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</a:t>
            </a:r>
            <a:pPr indent="0" marL="0">
              <a:buNone/>
            </a:pPr>
            <a:r>
              <a:rPr lang="en-US" sz="1700" b="1" dirty="0">
                <a:solidFill>
                  <a:srgbClr val="E8CD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alérgenos</a:t>
            </a:r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los revisa siempre el establecimiento: etiquetas, ingredientes privados y recetas copiadas.</a:t>
            </a:r>
            <a:endParaRPr lang="en-US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2514600"/>
            <a:ext cx="457200" cy="457200"/>
          </a:xfrm>
          <a:prstGeom prst="ellipse">
            <a:avLst/>
          </a:prstGeom>
          <a:solidFill>
            <a:srgbClr val="B8904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2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1325880" y="2423160"/>
            <a:ext cx="7223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documento </a:t>
            </a:r>
            <a:pPr indent="0" marL="0">
              <a:buNone/>
            </a:pPr>
            <a:r>
              <a:rPr lang="en-US" sz="1700" b="1" dirty="0">
                <a:solidFill>
                  <a:srgbClr val="E8CD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emitido</a:t>
            </a:r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no se modifica: las facturas se corrigen con </a:t>
            </a:r>
            <a:pPr indent="0" marL="0">
              <a:buNone/>
            </a:pPr>
            <a:r>
              <a:rPr lang="en-US" sz="1700" b="1" dirty="0">
                <a:solidFill>
                  <a:srgbClr val="E8CD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rectificativa</a:t>
            </a:r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3429000"/>
            <a:ext cx="457200" cy="457200"/>
          </a:xfrm>
          <a:prstGeom prst="ellipse">
            <a:avLst/>
          </a:prstGeom>
          <a:solidFill>
            <a:srgbClr val="B8904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3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1325880" y="3337560"/>
            <a:ext cx="7223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facturación </a:t>
            </a:r>
            <a:pPr indent="0" marL="0">
              <a:buNone/>
            </a:pPr>
            <a:r>
              <a:rPr lang="en-US" sz="1700" b="1" dirty="0">
                <a:solidFill>
                  <a:srgbClr val="E8CD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está certificada VERI*FACTU</a:t>
            </a:r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consulta con tu gestoría.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443484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CD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Samirarte · Gestor de Escandallos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52</Slides>
  <Notes>52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52</vt:i4>
      </vt:variant>
    </vt:vector>
  </HeadingPairs>
  <TitlesOfParts>
    <vt:vector size="5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</vt:vector>
  </TitlesOfParts>
  <Company>Samirarte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Gestor de Escandallos – Formación para Chef y Gerente</dc:title>
  <dc:subject>PptxGenJS Presentation</dc:subject>
  <dc:creator>Samirarte</dc:creator>
  <cp:lastModifiedBy>Samirarte</cp:lastModifiedBy>
  <cp:revision>1</cp:revision>
  <dcterms:created xsi:type="dcterms:W3CDTF">2026-10-24T10:06:56Z</dcterms:created>
  <dcterms:modified xsi:type="dcterms:W3CDTF">2026-10-24T10:06:56Z</dcterms:modified>
</cp:coreProperties>
</file>