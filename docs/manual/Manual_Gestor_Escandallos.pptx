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ce709a03-bd4c-70e6-5fe9-6eaf56e01c41}">
          <p14:sldIdLst>
            <p14:sldId id="256"/>
          </p14:sldIdLst>
        </p14:section>
        <p14:section name="Introducción" id="{82a8a471-5a73-96d4-73b2-7d3d2992094b}">
          <p14:sldIdLst>
            <p14:sldId id="257"/>
            <p14:sldId id="258"/>
            <p14:sldId id="259"/>
          </p14:sldIdLst>
        </p14:section>
        <p14:section name="Acceso" id="{d58f32da-94bb-d71c-c672-cbc4cd303626}">
          <p14:sldIdLst>
            <p14:sldId id="260"/>
            <p14:sldId id="261"/>
            <p14:sldId id="262"/>
            <p14:sldId id="263"/>
            <p14:sldId id="264"/>
          </p14:sldIdLst>
        </p14:section>
        <p14:section name="Recetas" id="{59c9fc16-a5a8-baa6-b8ee-6ad2794a33f6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Menús" id="{24352716-62c7-50b5-c896-635959db89a8}">
          <p14:sldIdLst>
            <p14:sldId id="278"/>
            <p14:sldId id="279"/>
            <p14:sldId id="280"/>
            <p14:sldId id="281"/>
          </p14:sldIdLst>
        </p14:section>
        <p14:section name="Clientes" id="{eab4eb9b-7d30-0aa1-3e29-c7f3f9c8351f}">
          <p14:sldIdLst>
            <p14:sldId id="282"/>
            <p14:sldId id="283"/>
            <p14:sldId id="284"/>
          </p14:sldIdLst>
        </p14:section>
        <p14:section name="Presupuestos y facturas" id="{32c6524d-8c9e-9f63-cfda-a9889f6697dd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Funciones del gerente" id="{301fbc38-1147-69f3-712c-26b789179cb0}">
          <p14:sldIdLst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Cierre" id="{84ff6d63-3039-b67c-2750-3fb57fdedbf3}">
          <p14:sldIdLst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Este curso recorre la app de principio a fin con la organización de ejemplo «Demo» (datos inventados).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 del curso. Cada bloque tiene pasos y una captura. Lo marcado como «Solo gerente» no lo puede hacer el chef.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la propiedad es de la organización. El gerente es quien emite documentos y gestiona la organización.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dos avisos son obligatorios en cualquier formación. Alérgenos = seguridad alimentaria.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Desde el correo de recuperación se llega a «Nueva contraseña» / «Repite la contraseña» / «Guardar contraseña». «Continuar como invitado» es solo para probar: no guarda cambios.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llega un enlace de invitación en lugar de un código, abrirlo con la sesión iniciada canjea la invitación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sesión siempre en ordenadores compartidos.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«Limpiar todos» vacía la receta en pantalla, con confirmación. No borra el inventario ni la versión guardada.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las croquetas: coste 0,38 €; con 10 % de costes indirectos y 30 % de margen, PVP sin IVA ≈ 0,54 €; con 10 % de IVA, 0,60 €. Food Cost = 0,38 / 0,54 = 69,9 %. Si sale «-», faltan cantidades o precios.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margen se aplica sobre el coste y puede superar el 100 %: coste 10 € con margen 150 % = PVP sin IVA 25 €.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puede equivocarse o dejar filas sin cantidad (en el ejemplo, sal y pimienta). Revisar siempre antes de guardar.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gerente ve además el botón «Compartir» junto a «Cargar receta». Falta la captura de la ficha abierta en Excel (22b).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chef ve la lista de recetas compartidas, pero solo el gerente puede copiarlas. La copia es independiente de la receta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Tipos de menú: Cóctel, Buffet, Menú sentado, Catering y Otro. El pax es informativo: no cambia las 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menú usado en presupuestos o facturas no se puede eliminar. Las recetas nunca se borran al eliminar un menú.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 datos inventados: Eventos Mediterráneo S.L.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Eliminar cliente pide escribir ELIMINAR. No eliminar clientes con documentos asociados.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Numeración anual por organización y tipo: PRE-AAAA-NNNN, FAC-AAAA-NNNN, REC-AAAA-NNNN. Un presupuesto emitido sí puede anularse.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ahora no se pueden eliminar documentos desde la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IVA viene por defecto de la organización. «Quitar último menú» y «Limpiar documento» para corregir. El número se asigna al emitir.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pestaña Miembros se ve cada persona con su rol y estado; «Desactivar» le quita el acceso. En la captura, el código está oculto a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razón social, NIF/CIF y dirección no se puede emitir. El logo sale en la cabecera de la app y en los documentos.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ingrediente privado en uso no se puede eliminar. Los que llegan al copiar recetas compartidas quedan pendientes de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otras organizaciones ven una vista previa sin precios y pueden hacer una copia independiente. Falta la captura de «Comparticiones activas» (78).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3B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5C3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rgbClr val="E8C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33756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Escandallos · Formación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tipo de Samira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291840" y="1325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Gestor de Escandallos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32918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C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Formación para Chef y Gerente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329184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Samirarte · Versión 1.0 ·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ver</a:t>
            </a:r>
            <a:endParaRPr lang="en-US" sz="2600" dirty="0"/>
          </a:p>
        </p:txBody>
      </p:sp>
      <p:sp>
        <p:nvSpPr>
          <p:cNvPr id="3" name="Tarjeta Acceso"/>
          <p:cNvSpPr/>
          <p:nvPr/>
        </p:nvSpPr>
        <p:spPr>
          <a:xfrm>
            <a:off x="457200" y="11430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Entrar, contraseña, invitación, organización</a:t>
            </a:r>
            <a:endParaRPr lang="en-US" sz="1300" dirty="0"/>
          </a:p>
        </p:txBody>
      </p:sp>
      <p:sp>
        <p:nvSpPr>
          <p:cNvPr id="7" name="Tarjeta Recetas"/>
          <p:cNvSpPr/>
          <p:nvPr/>
        </p:nvSpPr>
        <p:spPr>
          <a:xfrm>
            <a:off x="3246120" y="11430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25880"/>
            <a:ext cx="457200" cy="457200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Recetas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Ingredientes, costes, alérgenos, IA</a:t>
            </a:r>
            <a:endParaRPr lang="en-US" sz="1300" dirty="0"/>
          </a:p>
        </p:txBody>
      </p:sp>
      <p:sp>
        <p:nvSpPr>
          <p:cNvPr id="11" name="Tarjeta Menús"/>
          <p:cNvSpPr/>
          <p:nvPr/>
        </p:nvSpPr>
        <p:spPr>
          <a:xfrm>
            <a:off x="6035040" y="11430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25880"/>
            <a:ext cx="457200" cy="457200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recetas y fichas técnicas</a:t>
            </a:r>
            <a:endParaRPr lang="en-US" sz="1300" dirty="0"/>
          </a:p>
        </p:txBody>
      </p:sp>
      <p:sp>
        <p:nvSpPr>
          <p:cNvPr id="15" name="Tarjeta Clientes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para presupuestos y facturas</a:t>
            </a:r>
            <a:endParaRPr lang="en-US" sz="1300" dirty="0"/>
          </a:p>
        </p:txBody>
      </p:sp>
      <p:sp>
        <p:nvSpPr>
          <p:cNvPr id="19" name="Tarjeta Facturas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108960"/>
            <a:ext cx="457200" cy="457200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Borrador, emitir, cobrar, rectificar</a:t>
            </a:r>
            <a:endParaRPr lang="en-US" sz="1300" dirty="0"/>
          </a:p>
        </p:txBody>
      </p:sp>
      <p:sp>
        <p:nvSpPr>
          <p:cNvPr id="23" name="Tarjeta Gerente"/>
          <p:cNvSpPr/>
          <p:nvPr/>
        </p:nvSpPr>
        <p:spPr>
          <a:xfrm>
            <a:off x="6035040" y="29260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108960"/>
            <a:ext cx="457200" cy="457200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Gerente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Miembros, datos, inventario, compartir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Organizaciones y roles</a:t>
            </a:r>
            <a:endParaRPr lang="en-US" sz="26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0972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empresa es una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sus datos separados.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guardas es de la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tuyo: todos sus miembros lo ven.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dos roles: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097280"/>
          <a:ext cx="4480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Recetas, menús y 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Borradores y 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Emitir, cobrar, anular, rectificar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9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Copiar y compartir recetas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9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Precios propios e ingredientes privados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9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Miembros, datos y logo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93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Avisos importantes</a:t>
            </a:r>
            <a:endParaRPr lang="en-US" sz="2600" dirty="0"/>
          </a:p>
        </p:txBody>
      </p:sp>
      <p:sp>
        <p:nvSpPr>
          <p:cNvPr id="3" name="Aviso Alérgenos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BF3E4"/>
          </a:solidFill>
          <a:ln w="19050">
            <a:solidFill>
              <a:srgbClr val="A932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Alérgenos</a:t>
            </a:r>
            <a:endParaRPr lang="en-US" sz="2000" dirty="0"/>
          </a:p>
        </p:txBody>
      </p:sp>
      <p:sp>
        <p:nvSpPr>
          <p:cNvPr id="6" name="Puntos"/>
          <p:cNvSpPr txBox="1"/>
          <p:nvPr/>
        </p:nvSpPr>
        <p:spPr>
          <a:xfrm>
            <a:off x="731520" y="192024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ayuda, pero la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final es del establecimiento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siempre las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productos.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Ingredientes privados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copiadas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revisa sus alérgenos antes de usarlos.</a:t>
            </a:r>
            <a:endParaRPr lang="en-US" sz="1400" dirty="0"/>
          </a:p>
        </p:txBody>
      </p:sp>
      <p:sp>
        <p:nvSpPr>
          <p:cNvPr id="7" name="Aviso Facturación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BF3E4"/>
          </a:solidFill>
          <a:ln w="19050">
            <a:solidFill>
              <a:srgbClr val="A932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280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Facturación</a:t>
            </a:r>
            <a:endParaRPr lang="en-US" sz="2000" dirty="0"/>
          </a:p>
        </p:txBody>
      </p:sp>
      <p:sp>
        <p:nvSpPr>
          <p:cNvPr id="10" name="Puntos"/>
          <p:cNvSpPr txBox="1"/>
          <p:nvPr/>
        </p:nvSpPr>
        <p:spPr>
          <a:xfrm>
            <a:off x="4937760" y="192024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 certificada VERI*FACTU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con tu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gestoría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usarla como sistema fiscal.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C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337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Entrar, recuperar la contraseña y unirte a tu organización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Entrar en la aplicación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app y 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 la aplicación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84708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792224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con Google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escribe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57860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523744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iniciada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tu correo en la barra lateral.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331012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3255264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¿Olvidaste la contraseña?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olvidado tu contraseña?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enlace de recuperación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Captura pendiente 01"/>
          <p:cNvSpPr txBox="1"/>
          <p:nvPr/>
        </p:nvSpPr>
        <p:spPr>
          <a:xfrm>
            <a:off x="4937760" y="10058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01]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acceso: Google, email y contraseña, ¿Has olvidado tu contraseña?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docs/manual/capturas/01-login.png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Unirte a tu organización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gerente te da un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invitación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 el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correo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invitación.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el código en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invitación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Canjear invitación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verás «¡Te has unido a…!».</a:t>
            </a:r>
            <a:endParaRPr lang="en-US" sz="1400" dirty="0"/>
          </a:p>
        </p:txBody>
      </p:sp>
      <p:sp>
        <p:nvSpPr>
          <p:cNvPr id="11" name="Captura pendiente 02"/>
          <p:cNvSpPr txBox="1"/>
          <p:nvPr/>
        </p:nvSpPr>
        <p:spPr>
          <a:xfrm>
            <a:off x="4937760" y="10058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02]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sin organización: campo «Código de invitación» y botón «Canjear invitación»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docs/manual/capturas/02-canjear-invitacion.png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pantalla principal</a:t>
            </a:r>
            <a:endParaRPr lang="en-US" sz="26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logo y organización, tu sesión,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ingrediente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Recetas, Menús, Clientes y Facturas.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gerente ve además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App / Gerente.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ves un cambio de rol? Pulsa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Recargar permisos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Captura pendiente 10"/>
          <p:cNvSpPr txBox="1"/>
          <p:nvPr/>
        </p:nvSpPr>
        <p:spPr>
          <a:xfrm>
            <a:off x="4937760" y="10058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10]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 del chef con la barra lateral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docs/manual/capturas/10-inicio-sidebar.png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Cambiar de organización activa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perteneces 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organización.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activa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barra lateral.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organización: la app se recarga con sus datos y su logo.</a:t>
            </a:r>
            <a:endParaRPr lang="en-US" sz="1400" dirty="0"/>
          </a:p>
        </p:txBody>
      </p:sp>
      <p:sp>
        <p:nvSpPr>
          <p:cNvPr id="9" name="Aviso"/>
          <p:cNvSpPr/>
          <p:nvPr/>
        </p:nvSpPr>
        <p:spPr>
          <a:xfrm>
            <a:off x="457200" y="39319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BF3E4"/>
          </a:solidFill>
          <a:ln w="15875">
            <a:solidFill>
              <a:srgbClr val="A93226"/>
            </a:solidFill>
            <a:prstDash val="solid"/>
          </a:ln>
        </p:spPr>
      </p:sp>
      <p:sp>
        <p:nvSpPr>
          <p:cNvPr id="10" name="Icono aviso"/>
          <p:cNvSpPr txBox="1"/>
          <p:nvPr/>
        </p:nvSpPr>
        <p:spPr>
          <a:xfrm>
            <a:off x="594360" y="4119372"/>
            <a:ext cx="310896" cy="310896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1" name="Texto aviso"/>
          <p:cNvSpPr txBox="1"/>
          <p:nvPr/>
        </p:nvSpPr>
        <p:spPr>
          <a:xfrm>
            <a:off x="1024128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tu trabajo antes: el documento abierto en Facturas se limpia.</a:t>
            </a:r>
            <a:endParaRPr lang="en-US" sz="1200" dirty="0"/>
          </a:p>
        </p:txBody>
      </p:sp>
      <p:sp>
        <p:nvSpPr>
          <p:cNvPr id="12" name="Captura pendiente 11"/>
          <p:cNvSpPr txBox="1"/>
          <p:nvPr/>
        </p:nvSpPr>
        <p:spPr>
          <a:xfrm>
            <a:off x="4937760" y="10058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11]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Desplegable «Organización activa» abierto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docs/manual/capturas/11-selector-organizacion.png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C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Recetas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337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Escandallos, costes, alérgenos e inteligencia artificial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una receta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plato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las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Raciones base receta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si ya es por ración).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recetas se guardan siempre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 ración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11" name="Captura 12" descr="Receta nueva: nombre, categoría, tipo de plato y raciones 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283791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Añadir ingredientes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ingrediente en la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fila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tabla.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coincidencia del inventario y 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compra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(bruta) y revisa la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merma (%) da la cantidad neta; el coste va sobre la bruta.</a:t>
            </a:r>
            <a:endParaRPr lang="en-US" sz="1400" dirty="0"/>
          </a:p>
        </p:txBody>
      </p:sp>
      <p:pic>
        <p:nvPicPr>
          <p:cNvPr id="11" name="Captura 17b" descr="Tabla de ingredientes con cantidades y unida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ficha de ingrediente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una fila en la columna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en la barra lateral merma, precio, cantidad y alérgenos.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fila de receta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de esta receta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Aviso"/>
          <p:cNvSpPr/>
          <p:nvPr/>
        </p:nvSpPr>
        <p:spPr>
          <a:xfrm>
            <a:off x="457200" y="39319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BF3E4"/>
          </a:solidFill>
          <a:ln w="15875">
            <a:solidFill>
              <a:srgbClr val="A93226"/>
            </a:solidFill>
            <a:prstDash val="solid"/>
          </a:ln>
        </p:spPr>
      </p:sp>
      <p:sp>
        <p:nvSpPr>
          <p:cNvPr id="10" name="Icono aviso"/>
          <p:cNvSpPr txBox="1"/>
          <p:nvPr/>
        </p:nvSpPr>
        <p:spPr>
          <a:xfrm>
            <a:off x="594360" y="4119372"/>
            <a:ext cx="310896" cy="310896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1" name="Texto aviso"/>
          <p:cNvSpPr txBox="1"/>
          <p:nvPr/>
        </p:nvSpPr>
        <p:spPr>
          <a:xfrm>
            <a:off x="1024128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inventario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 un ingrediente privado: 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pic>
        <p:nvPicPr>
          <p:cNvPr id="12" name="Captura 14" descr="Ficha de ingrediente en la barra late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315023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Coste, PVP y Food Cost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0,38 €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por ración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× precio de cada ingrediente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0,60 €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por ración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+ indirectos + margen + IVA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9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69,9 %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÷ precio de venta sin IVA</a:t>
            </a:r>
            <a:endParaRPr lang="en-US" sz="1300" dirty="0"/>
          </a:p>
        </p:txBody>
      </p:sp>
      <p:pic>
        <p:nvPicPr>
          <p:cNvPr id="12" name="Captura 15" descr="Coste por ración, PVP por ración y Food Co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131257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avanzados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avanzados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Indirectos (%)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Beneficio (%)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Evento (%)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PVP y el Food Cost se recalculan al momento.</a:t>
            </a:r>
            <a:endParaRPr lang="en-US" sz="1400" dirty="0"/>
          </a:p>
        </p:txBody>
      </p:sp>
      <p:pic>
        <p:nvPicPr>
          <p:cNvPr id="9" name="Captura 18" descr="Parámetros avanzados abier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262514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Ajustar la receta a 1 ración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las cantidades de la receta original.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Raciones base receta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(por ejemplo, 4).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aviso: las cantidades se dividirán entre 4.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ajuste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11" name="Captura 21" descr="Aviso de ajuste de raciones base (Confirmar ajuste / Cancela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290482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Alérgenos de la receta</a:t>
            </a:r>
            <a:endParaRPr lang="en-US" sz="26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0972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Alérgenos detectados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reúne los de todos los ingredientes.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actualiza, pulsa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Refrescar alérgenos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rojo = hay ingredientes privados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revisar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Aviso"/>
          <p:cNvSpPr/>
          <p:nvPr/>
        </p:nvSpPr>
        <p:spPr>
          <a:xfrm>
            <a:off x="457200" y="39319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BF3E4"/>
          </a:solidFill>
          <a:ln w="15875">
            <a:solidFill>
              <a:srgbClr val="A93226"/>
            </a:solidFill>
            <a:prstDash val="solid"/>
          </a:ln>
        </p:spPr>
      </p:sp>
      <p:sp>
        <p:nvSpPr>
          <p:cNvPr id="5" name="Icono aviso"/>
          <p:cNvSpPr txBox="1"/>
          <p:nvPr/>
        </p:nvSpPr>
        <p:spPr>
          <a:xfrm>
            <a:off x="594360" y="4119372"/>
            <a:ext cx="310896" cy="310896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6" name="Texto aviso"/>
          <p:cNvSpPr txBox="1"/>
          <p:nvPr/>
        </p:nvSpPr>
        <p:spPr>
          <a:xfrm>
            <a:off x="1024128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ayuda, pero la 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final es del establecimiento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Revisa las etiquetas.</a:t>
            </a:r>
            <a:endParaRPr lang="en-US" sz="1200" dirty="0"/>
          </a:p>
        </p:txBody>
      </p:sp>
      <p:pic>
        <p:nvPicPr>
          <p:cNvPr id="7" name="Captura 16" descr="Bloque «Alérgenos detectados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135359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IA: receta a partir de un texto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Generar receta con IA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pestaña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64592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591056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la receta con cantidades en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para analizar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1762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121408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texto con IA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2706624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2651760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fila: ingrediente, cantidad y unidad.</a:t>
            </a:r>
            <a:endParaRPr lang="en-US" sz="1400" dirty="0"/>
          </a:p>
        </p:txBody>
      </p:sp>
      <p:sp>
        <p:nvSpPr>
          <p:cNvPr id="11" name="Paso 5"/>
          <p:cNvSpPr txBox="1"/>
          <p:nvPr/>
        </p:nvSpPr>
        <p:spPr>
          <a:xfrm>
            <a:off x="457200" y="32369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o paso 5"/>
          <p:cNvSpPr txBox="1"/>
          <p:nvPr/>
        </p:nvSpPr>
        <p:spPr>
          <a:xfrm>
            <a:off x="896112" y="3182112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las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Raciones base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era para varias.</a:t>
            </a:r>
            <a:endParaRPr lang="en-US" sz="1400" dirty="0"/>
          </a:p>
        </p:txBody>
      </p:sp>
      <p:pic>
        <p:nvPicPr>
          <p:cNvPr id="13" name="Captura 17" descr="IA con texto: receta escrita antes de analiz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127086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pic>
        <p:nvPicPr>
          <p:cNvPr id="14" name="Captura 13" descr="Ingredientes rellenados por la IA a partir del tex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0" y="2459581"/>
            <a:ext cx="1798320" cy="17373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IA: receta a partir de una foto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Generar receta con IA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pestaña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la foto (JPG o PNG) de la receta, factura o albarán.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imagen con IA Vision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ingredientes rellenados.</a:t>
            </a:r>
            <a:endParaRPr lang="en-US" sz="1400" dirty="0"/>
          </a:p>
        </p:txBody>
      </p:sp>
      <p:sp>
        <p:nvSpPr>
          <p:cNvPr id="11" name="Captura pendiente 17c"/>
          <p:cNvSpPr txBox="1"/>
          <p:nvPr/>
        </p:nvSpPr>
        <p:spPr>
          <a:xfrm>
            <a:off x="4937760" y="100584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17c]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 imagen: foto de una receta subida, antes de escanear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docs/manual/capturas/17c-ia-imagen-subida.png</a:t>
            </a:r>
            <a:endParaRPr lang="en-US" sz="1400" dirty="0"/>
          </a:p>
        </p:txBody>
      </p:sp>
      <p:sp>
        <p:nvSpPr>
          <p:cNvPr id="12" name="Captura pendiente 17d"/>
          <p:cNvSpPr txBox="1"/>
          <p:nvPr/>
        </p:nvSpPr>
        <p:spPr>
          <a:xfrm>
            <a:off x="4937760" y="292608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17d]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 imagen: ingredientes rellenados tras «Escanear imagen con IA Vision»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docs/manual/capturas/17d-ia-imagen-resultado.png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Elaboración y guardar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y observaciones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escribe los pasos.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receta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recibe un código (REC-0023).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receta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guarda cambios en la receta cargada.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receta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 una variante con otro código.</a:t>
            </a:r>
            <a:endParaRPr lang="en-US" sz="1400" dirty="0"/>
          </a:p>
        </p:txBody>
      </p:sp>
      <p:pic>
        <p:nvPicPr>
          <p:cNvPr id="11" name="Captura 19" descr="Elaboración y observaciones, y botones de guard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328143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Recetas guardadas y ficha técnica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receta en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guardadas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receta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ficha Excel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la ficha técnica.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Borrar: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escribe ELIMINAR.</a:t>
            </a:r>
            <a:endParaRPr lang="en-US" sz="1400" dirty="0"/>
          </a:p>
        </p:txBody>
      </p:sp>
      <p:pic>
        <p:nvPicPr>
          <p:cNvPr id="11" name="Captura 20" descr="Recetas guardadas con el selector despleg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3873" y="1005840"/>
            <a:ext cx="3376815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Recetas compartidas con mi organización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receta compartida y 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y copiar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 vista previa (sin precios de origen).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a mi organización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precios y PVP: los márgenes no se copian.</a:t>
            </a:r>
            <a:endParaRPr lang="en-US" sz="1400" dirty="0"/>
          </a:p>
        </p:txBody>
      </p:sp>
      <p:sp>
        <p:nvSpPr>
          <p:cNvPr id="12" name="Aviso"/>
          <p:cNvSpPr/>
          <p:nvPr/>
        </p:nvSpPr>
        <p:spPr>
          <a:xfrm>
            <a:off x="457200" y="39319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BF3E4"/>
          </a:solidFill>
          <a:ln w="15875">
            <a:solidFill>
              <a:srgbClr val="A93226"/>
            </a:solidFill>
            <a:prstDash val="solid"/>
          </a:ln>
        </p:spPr>
      </p:sp>
      <p:sp>
        <p:nvSpPr>
          <p:cNvPr id="13" name="Icono aviso"/>
          <p:cNvSpPr txBox="1"/>
          <p:nvPr/>
        </p:nvSpPr>
        <p:spPr>
          <a:xfrm>
            <a:off x="594360" y="4119372"/>
            <a:ext cx="310896" cy="310896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4" name="Texto aviso"/>
          <p:cNvSpPr txBox="1"/>
          <p:nvPr/>
        </p:nvSpPr>
        <p:spPr>
          <a:xfrm>
            <a:off x="1024128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ingredientes privados copiados llegan con alérgenos 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de revisión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Captura pendiente 23"/>
          <p:cNvSpPr txBox="1"/>
          <p:nvPr/>
        </p:nvSpPr>
        <p:spPr>
          <a:xfrm>
            <a:off x="4937760" y="10058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23]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compartidas con mi organización y su vista previa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docs/manual/capturas/23-recetas-compartidas.png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C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337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recetas, consulta alérgenos y descarga fichas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 menú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nombre,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menú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 de referencia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receta,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Raciones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receta al menú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con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del menú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quitar.</a:t>
            </a:r>
            <a:endParaRPr lang="en-US" sz="1400" dirty="0"/>
          </a:p>
        </p:txBody>
      </p:sp>
      <p:pic>
        <p:nvPicPr>
          <p:cNvPr id="11" name="Captura 30" descr="Menú con recetas añadidas y acciones por pla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1312" y="1005840"/>
            <a:ext cx="2881937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Alérgenos, fichas y guardar</a:t>
            </a:r>
            <a:endParaRPr lang="en-US" sz="26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Alérgenos del menú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 de todas sus recetas.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fichas técnicas del menú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Excel.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menú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menú seleccionado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menú seleccionado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menú actual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vacía la pantalla, no borra nada.</a:t>
            </a:r>
            <a:endParaRPr lang="en-US" sz="1400" dirty="0"/>
          </a:p>
        </p:txBody>
      </p:sp>
      <p:pic>
        <p:nvPicPr>
          <p:cNvPr id="4" name="Captura 31" descr="Alérgenos del menú, descarga de fichas y botones de guard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213293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un menú guardado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 guardados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menú y 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menú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Borrar: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menú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escribe ELIMINAR.</a:t>
            </a:r>
            <a:endParaRPr lang="en-US" sz="1400" dirty="0"/>
          </a:p>
        </p:txBody>
      </p:sp>
      <p:pic>
        <p:nvPicPr>
          <p:cNvPr id="9" name="Captura 33" descr="Cargar un menú guard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5407" y="1005840"/>
            <a:ext cx="3633746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C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337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fichas que usarás en presupuestos y facturas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 cliente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cliente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nombre, NIF/CIF, contacto y dirección.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cliente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Aviso"/>
          <p:cNvSpPr/>
          <p:nvPr/>
        </p:nvSpPr>
        <p:spPr>
          <a:xfrm>
            <a:off x="457200" y="39319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BF3E4"/>
          </a:solidFill>
          <a:ln w="15875">
            <a:solidFill>
              <a:srgbClr val="A93226"/>
            </a:solidFill>
            <a:prstDash val="solid"/>
          </a:ln>
        </p:spPr>
      </p:sp>
      <p:sp>
        <p:nvSpPr>
          <p:cNvPr id="10" name="Icono aviso"/>
          <p:cNvSpPr txBox="1"/>
          <p:nvPr/>
        </p:nvSpPr>
        <p:spPr>
          <a:xfrm>
            <a:off x="594360" y="4119372"/>
            <a:ext cx="310896" cy="310896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1" name="Texto aviso"/>
          <p:cNvSpPr txBox="1"/>
          <p:nvPr/>
        </p:nvSpPr>
        <p:spPr>
          <a:xfrm>
            <a:off x="1024128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nombre fiscal, NIF/CIF y dirección: salen en los documentos.</a:t>
            </a:r>
            <a:endParaRPr lang="en-US" sz="1200" dirty="0"/>
          </a:p>
        </p:txBody>
      </p:sp>
      <p:pic>
        <p:nvPicPr>
          <p:cNvPr id="12" name="Captura 41" descr="Formulario «Nuevo cliente» relle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735" y="1005840"/>
            <a:ext cx="2833090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Editar un cliente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cliente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abre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guardados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cliente y cambia sus datos.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cliente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9" name="Captura 40" descr="Editar cliente: selector de clientes guard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6403" y="1005840"/>
            <a:ext cx="3011754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C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Presupuestos y facturas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337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borrador al documento emitido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un documento</a:t>
            </a:r>
            <a:endParaRPr lang="en-US" sz="2600" dirty="0"/>
          </a:p>
        </p:txBody>
      </p:sp>
      <p:sp>
        <p:nvSpPr>
          <p:cNvPr id="3" name="Estado Borrador"/>
          <p:cNvSpPr/>
          <p:nvPr/>
        </p:nvSpPr>
        <p:spPr>
          <a:xfrm>
            <a:off x="457200" y="109728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7F1E6"/>
          </a:solidFill>
          <a:ln w="12700">
            <a:solidFill>
              <a:srgbClr val="B890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Borrador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Editable, sin número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93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y gerente</a:t>
            </a:r>
            <a:endParaRPr lang="en-US" sz="1200" dirty="0"/>
          </a:p>
        </p:txBody>
      </p:sp>
      <p:sp>
        <p:nvSpPr>
          <p:cNvPr id="7" name="Flecha"/>
          <p:cNvSpPr/>
          <p:nvPr/>
        </p:nvSpPr>
        <p:spPr>
          <a:xfrm>
            <a:off x="3044952" y="1645920"/>
            <a:ext cx="219456" cy="237744"/>
          </a:xfrm>
          <a:prstGeom prst="rightArrow">
            <a:avLst/>
          </a:prstGeom>
          <a:solidFill>
            <a:srgbClr val="B8904F"/>
          </a:solidFill>
          <a:ln w="12700">
            <a:solidFill>
              <a:srgbClr val="B8904F"/>
            </a:solidFill>
            <a:prstDash val="solid"/>
          </a:ln>
        </p:spPr>
      </p:sp>
      <p:sp>
        <p:nvSpPr>
          <p:cNvPr id="8" name="Estado Emitido"/>
          <p:cNvSpPr/>
          <p:nvPr/>
        </p:nvSpPr>
        <p:spPr>
          <a:xfrm>
            <a:off x="3291840" y="109728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5C3A21"/>
          </a:solidFill>
          <a:ln w="12700">
            <a:solidFill>
              <a:srgbClr val="B890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Emitido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definitivo, no editable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93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endParaRPr lang="en-US" sz="1200" dirty="0"/>
          </a:p>
        </p:txBody>
      </p:sp>
      <p:sp>
        <p:nvSpPr>
          <p:cNvPr id="12" name="Flecha"/>
          <p:cNvSpPr/>
          <p:nvPr/>
        </p:nvSpPr>
        <p:spPr>
          <a:xfrm>
            <a:off x="5879592" y="1645920"/>
            <a:ext cx="219456" cy="237744"/>
          </a:xfrm>
          <a:prstGeom prst="rightArrow">
            <a:avLst/>
          </a:prstGeom>
          <a:solidFill>
            <a:srgbClr val="B8904F"/>
          </a:solidFill>
          <a:ln w="12700">
            <a:solidFill>
              <a:srgbClr val="B8904F"/>
            </a:solidFill>
            <a:prstDash val="solid"/>
          </a:ln>
        </p:spPr>
      </p:sp>
      <p:sp>
        <p:nvSpPr>
          <p:cNvPr id="13" name="Estado Cobrado / Anulado"/>
          <p:cNvSpPr/>
          <p:nvPr/>
        </p:nvSpPr>
        <p:spPr>
          <a:xfrm>
            <a:off x="6126480" y="109728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5C3A21"/>
          </a:solidFill>
          <a:ln w="12700">
            <a:solidFill>
              <a:srgbClr val="B890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Cobrado / Anulado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recorrido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993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PRE-2026-0001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FAC-2026-0001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Rectificativa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9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REC-2026-0001</a:t>
            </a:r>
            <a:endParaRPr lang="en-US" sz="2000" dirty="0"/>
          </a:p>
        </p:txBody>
      </p:sp>
      <p:sp>
        <p:nvSpPr>
          <p:cNvPr id="23" name="Aviso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 w="15875">
            <a:solidFill>
              <a:srgbClr val="A93226"/>
            </a:solidFill>
            <a:prstDash val="solid"/>
          </a:ln>
        </p:spPr>
      </p:sp>
      <p:sp>
        <p:nvSpPr>
          <p:cNvPr id="24" name="Icono aviso"/>
          <p:cNvSpPr txBox="1"/>
          <p:nvPr/>
        </p:nvSpPr>
        <p:spPr>
          <a:xfrm>
            <a:off x="594360" y="3913632"/>
            <a:ext cx="310896" cy="310896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25" name="Texto aviso"/>
          <p:cNvSpPr txBox="1"/>
          <p:nvPr/>
        </p:nvSpPr>
        <p:spPr>
          <a:xfrm>
            <a:off x="1024128" y="3703320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emitida: no se edita ni se anula → </a:t>
            </a:r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rectificativa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app </a:t>
            </a:r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 certificada VERI*FACTU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 guardados</a:t>
            </a:r>
            <a:endParaRPr lang="en-US" sz="26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documento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abrirlo para ver o seguir editando.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documento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nuevo borrador a partir de él.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factura desde presupuesto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borrador de factura con sus menús.</a:t>
            </a:r>
            <a:endParaRPr lang="en-US" sz="1400" dirty="0"/>
          </a:p>
        </p:txBody>
      </p:sp>
      <p:pic>
        <p:nvPicPr>
          <p:cNvPr id="4" name="Captura 60" descr="Documentos guardados (Cargar / Duplicar / Crear factura desde presupuest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250427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 borrador</a:t>
            </a:r>
            <a:endParaRPr lang="en-US" sz="2600" dirty="0"/>
          </a:p>
        </p:txBody>
      </p:sp>
      <p:sp>
        <p:nvSpPr>
          <p:cNvPr id="3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o paso 1"/>
          <p:cNvSpPr txBox="1"/>
          <p:nvPr/>
        </p:nvSpPr>
        <p:spPr>
          <a:xfrm>
            <a:off x="896112" y="1060704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documento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Paso 2"/>
          <p:cNvSpPr txBox="1"/>
          <p:nvPr/>
        </p:nvSpPr>
        <p:spPr>
          <a:xfrm>
            <a:off x="457200" y="164592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o paso 2"/>
          <p:cNvSpPr txBox="1"/>
          <p:nvPr/>
        </p:nvSpPr>
        <p:spPr>
          <a:xfrm>
            <a:off x="896112" y="1591056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fechas, pago, retención 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(%)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Paso 3"/>
          <p:cNvSpPr txBox="1"/>
          <p:nvPr/>
        </p:nvSpPr>
        <p:spPr>
          <a:xfrm>
            <a:off x="457200" y="21762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o paso 3"/>
          <p:cNvSpPr txBox="1"/>
          <p:nvPr/>
        </p:nvSpPr>
        <p:spPr>
          <a:xfrm>
            <a:off x="896112" y="2121408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Paso 4"/>
          <p:cNvSpPr txBox="1"/>
          <p:nvPr/>
        </p:nvSpPr>
        <p:spPr>
          <a:xfrm>
            <a:off x="457200" y="2706624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o paso 4"/>
          <p:cNvSpPr txBox="1"/>
          <p:nvPr/>
        </p:nvSpPr>
        <p:spPr>
          <a:xfrm>
            <a:off x="896112" y="2651760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menú y 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menú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Paso 5"/>
          <p:cNvSpPr txBox="1"/>
          <p:nvPr/>
        </p:nvSpPr>
        <p:spPr>
          <a:xfrm>
            <a:off x="457200" y="32369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o paso 5"/>
          <p:cNvSpPr txBox="1"/>
          <p:nvPr/>
        </p:nvSpPr>
        <p:spPr>
          <a:xfrm>
            <a:off x="896112" y="3182112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borrador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13" name="Captura 61" descr="Presupuesto en borrador con un menú aña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281362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eres chef</a:t>
            </a:r>
            <a:endParaRPr lang="en-US" sz="26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Preparas y guardas el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igual que el gerente.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verás: «Solo el gerente puede emitir el documento».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a tu gerente cuando el borrador esté listo.</a:t>
            </a:r>
            <a:endParaRPr lang="en-US" sz="1400" dirty="0"/>
          </a:p>
        </p:txBody>
      </p:sp>
      <p:sp>
        <p:nvSpPr>
          <p:cNvPr id="4" name="Captura pendiente 50"/>
          <p:cNvSpPr txBox="1"/>
          <p:nvPr/>
        </p:nvSpPr>
        <p:spPr>
          <a:xfrm>
            <a:off x="4937760" y="100584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50]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presupuesto creado por el chef (sin número)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docs/manual/capturas/50-chef-borrador.png</a:t>
            </a:r>
            <a:endParaRPr lang="en-US" sz="1400" dirty="0"/>
          </a:p>
        </p:txBody>
      </p:sp>
      <p:sp>
        <p:nvSpPr>
          <p:cNvPr id="5" name="Captura pendiente 51"/>
          <p:cNvSpPr txBox="1"/>
          <p:nvPr/>
        </p:nvSpPr>
        <p:spPr>
          <a:xfrm>
            <a:off x="4937760" y="292608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51]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chef en lugar del botón «Emitir documento»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docs/manual/capturas/51-chef-sin-emitir.png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Emitir un documento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antes los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fiscales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organización.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borrador guardado y revísalo.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documento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el número asignado (PRE-2026-0001).</a:t>
            </a:r>
            <a:endParaRPr lang="en-US" sz="1400" dirty="0"/>
          </a:p>
        </p:txBody>
      </p:sp>
      <p:sp>
        <p:nvSpPr>
          <p:cNvPr id="12" name="Aviso"/>
          <p:cNvSpPr/>
          <p:nvPr/>
        </p:nvSpPr>
        <p:spPr>
          <a:xfrm>
            <a:off x="457200" y="39319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BF3E4"/>
          </a:solidFill>
          <a:ln w="15875">
            <a:solidFill>
              <a:srgbClr val="A93226"/>
            </a:solidFill>
            <a:prstDash val="solid"/>
          </a:ln>
        </p:spPr>
      </p:sp>
      <p:sp>
        <p:nvSpPr>
          <p:cNvPr id="13" name="Icono aviso"/>
          <p:cNvSpPr txBox="1"/>
          <p:nvPr/>
        </p:nvSpPr>
        <p:spPr>
          <a:xfrm>
            <a:off x="594360" y="4119372"/>
            <a:ext cx="310896" cy="310896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4" name="Texto aviso"/>
          <p:cNvSpPr txBox="1"/>
          <p:nvPr/>
        </p:nvSpPr>
        <p:spPr>
          <a:xfrm>
            <a:off x="1024128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deshacer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pic>
        <p:nvPicPr>
          <p:cNvPr id="15" name="Captura 62a" descr="Botón «Emitir documento» en un borrador guard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132319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pic>
        <p:nvPicPr>
          <p:cNvPr id="16" name="Captura 62" descr="Mensaje tras emitir (PRE-2026-0001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11911"/>
            <a:ext cx="3749040" cy="88212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 emitido y PDF</a:t>
            </a:r>
            <a:endParaRPr lang="en-US" sz="2600" dirty="0"/>
          </a:p>
        </p:txBody>
      </p:sp>
      <p:sp>
        <p:nvSpPr>
          <p:cNvPr id="3" name="Puntos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documento emitido está en </a:t>
            </a:r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PDF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usa los datos guardados al emitir.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PDF lleva los datos fiscales y el logo de tu organización.</a:t>
            </a:r>
            <a:endParaRPr lang="en-US" sz="1400" dirty="0"/>
          </a:p>
        </p:txBody>
      </p:sp>
      <p:pic>
        <p:nvPicPr>
          <p:cNvPr id="4" name="Captura 63" descr="Documento emitido: acciones disponi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130848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Captura pendiente 64"/>
          <p:cNvSpPr txBox="1"/>
          <p:nvPr/>
        </p:nvSpPr>
        <p:spPr>
          <a:xfrm>
            <a:off x="4937760" y="2497208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64]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del presupuesto descargado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docs/manual/capturas/64-pdf-presupuesto.png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 y cobro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un presupuesto: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factura desde presupuesto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borrador y 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documento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cobrar: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como cobrado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10" name="Captura 65" descr="Factura emitida (FAC-2026-000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141140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pic>
        <p:nvPicPr>
          <p:cNvPr id="11" name="Captura 66" descr="Factura en estado cobra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00123"/>
            <a:ext cx="3749040" cy="44106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Corregir una factura: rectificativa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la factura emitida.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rectificativa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el borrador y guárdalo.</a:t>
            </a:r>
            <a:endParaRPr lang="en-US" sz="1400" dirty="0"/>
          </a:p>
        </p:txBody>
      </p:sp>
      <p:sp>
        <p:nvSpPr>
          <p:cNvPr id="10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documento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número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REC-AAAA-NNNN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Captura pendiente 67"/>
          <p:cNvSpPr txBox="1"/>
          <p:nvPr/>
        </p:nvSpPr>
        <p:spPr>
          <a:xfrm>
            <a:off x="4937760" y="10058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E6E6E6"/>
          </a:solidFill>
          <a:ln w="12700">
            <a:solidFill>
              <a:srgbClr val="AAAAAA"/>
            </a:solidFill>
            <a:prstDash val="dash"/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[Captura pendiente: 67]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«Crear rectificativa» y la rectificativa resultante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docs/manual/capturas/67-rectificativa.png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Anular un presupuesto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presupuesto emitido.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Anular presupuesto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(confirma si te lo pide).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en estado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anulada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Aviso"/>
          <p:cNvSpPr/>
          <p:nvPr/>
        </p:nvSpPr>
        <p:spPr>
          <a:xfrm>
            <a:off x="457200" y="39319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BF3E4"/>
          </a:solidFill>
          <a:ln w="15875">
            <a:solidFill>
              <a:srgbClr val="A93226"/>
            </a:solidFill>
            <a:prstDash val="solid"/>
          </a:ln>
        </p:spPr>
      </p:sp>
      <p:sp>
        <p:nvSpPr>
          <p:cNvPr id="11" name="Icono aviso"/>
          <p:cNvSpPr txBox="1"/>
          <p:nvPr/>
        </p:nvSpPr>
        <p:spPr>
          <a:xfrm>
            <a:off x="594360" y="4119372"/>
            <a:ext cx="310896" cy="310896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o aviso"/>
          <p:cNvSpPr txBox="1"/>
          <p:nvPr/>
        </p:nvSpPr>
        <p:spPr>
          <a:xfrm>
            <a:off x="1024128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presupuestos. La anulación 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deshacer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pic>
        <p:nvPicPr>
          <p:cNvPr id="13" name="Captura 68" descr="Presupuesto anul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43130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C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del gerente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337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Miembros, datos de la organización, inventario y compartir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página Gerente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elige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84708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792224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Pestañas: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 e invitaciones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la organización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propio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recetas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57860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523744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volver, elige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10" name="Captura 70" descr="Navegación App / Gerente y página de gest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006" y="1005840"/>
            <a:ext cx="2816548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Miembros e invitaciones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Invitaciones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email,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validez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invitación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el código ahora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se vuelve a mostrar.</a:t>
            </a:r>
            <a:endParaRPr lang="en-US" sz="1400" dirty="0"/>
          </a:p>
        </p:txBody>
      </p:sp>
      <p:sp>
        <p:nvSpPr>
          <p:cNvPr id="10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anula una invitación pendiente.</a:t>
            </a:r>
            <a:endParaRPr lang="en-US" sz="1400" dirty="0"/>
          </a:p>
        </p:txBody>
      </p:sp>
      <p:pic>
        <p:nvPicPr>
          <p:cNvPr id="12" name="Captura 72" descr="Generar una invitación (código oculto en la captur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306196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 la organización y logo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razón social,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NIF/CIF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dirección fiscal.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el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por defecto (%)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datos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logo (PNG, JPG o WEBP, máx. 300 KB).</a:t>
            </a:r>
            <a:endParaRPr lang="en-US" sz="1400" dirty="0"/>
          </a:p>
        </p:txBody>
      </p:sp>
      <p:sp>
        <p:nvSpPr>
          <p:cNvPr id="10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logo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logo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</p:txBody>
      </p:sp>
      <p:pic>
        <p:nvPicPr>
          <p:cNvPr id="12" name="Captura 74" descr="Subir y guardar el logot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313664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Precios propios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propio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busca el ingrediente del catálogo.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Precio/unidad (€)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 (%)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precio propio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recetas usarán tu precio.</a:t>
            </a:r>
            <a:endParaRPr lang="en-US" sz="1400" dirty="0"/>
          </a:p>
        </p:txBody>
      </p:sp>
      <p:pic>
        <p:nvPicPr>
          <p:cNvPr id="12" name="Captura 75" descr="Precio propio de un ingrediente del catá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6644" y="1005840"/>
            <a:ext cx="3411272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Ingredientes privados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ingrediente privado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descripción, familia y unidad.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sus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Alérgenos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marca «No contiene ninguno».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ingrediente privado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(código P-…).</a:t>
            </a:r>
            <a:endParaRPr lang="en-US" sz="1400" dirty="0"/>
          </a:p>
        </p:txBody>
      </p:sp>
      <p:sp>
        <p:nvSpPr>
          <p:cNvPr id="10" name="Aviso"/>
          <p:cNvSpPr/>
          <p:nvPr/>
        </p:nvSpPr>
        <p:spPr>
          <a:xfrm>
            <a:off x="457200" y="39319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BF3E4"/>
          </a:solidFill>
          <a:ln w="15875">
            <a:solidFill>
              <a:srgbClr val="A93226"/>
            </a:solidFill>
            <a:prstDash val="solid"/>
          </a:ln>
        </p:spPr>
      </p:sp>
      <p:sp>
        <p:nvSpPr>
          <p:cNvPr id="11" name="Icono aviso"/>
          <p:cNvSpPr txBox="1"/>
          <p:nvPr/>
        </p:nvSpPr>
        <p:spPr>
          <a:xfrm>
            <a:off x="594360" y="4119372"/>
            <a:ext cx="310896" cy="310896"/>
          </a:xfrm>
          <a:prstGeom prst="ellipse">
            <a:avLst/>
          </a:prstGeom>
          <a:solidFill>
            <a:srgbClr val="A932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o aviso"/>
          <p:cNvSpPr txBox="1"/>
          <p:nvPr/>
        </p:nvSpPr>
        <p:spPr>
          <a:xfrm>
            <a:off x="1024128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= alérgenos </a:t>
            </a:r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de revisión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Revísalos antes de usarlos.</a:t>
            </a:r>
            <a:endParaRPr lang="en-US" sz="1200" dirty="0"/>
          </a:p>
        </p:txBody>
      </p:sp>
      <p:pic>
        <p:nvPicPr>
          <p:cNvPr id="13" name="Captura 76" descr="Añadir un ingrediente privado con sus alérgen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5407" y="1005840"/>
            <a:ext cx="3633746" cy="3657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Compartir recetas</a:t>
            </a:r>
            <a:endParaRPr lang="en-US" sz="2600" dirty="0"/>
          </a:p>
        </p:txBody>
      </p:sp>
      <p:sp>
        <p:nvSpPr>
          <p:cNvPr id="3" name="Etiqueta solo gerente"/>
          <p:cNvSpPr txBox="1"/>
          <p:nvPr/>
        </p:nvSpPr>
        <p:spPr>
          <a:xfrm>
            <a:off x="7498080" y="43891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C3A2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</a:t>
            </a:r>
            <a:endParaRPr lang="en-US" sz="1000" dirty="0"/>
          </a:p>
        </p:txBody>
      </p:sp>
      <p:sp>
        <p:nvSpPr>
          <p:cNvPr id="4" name="Paso 1"/>
          <p:cNvSpPr txBox="1"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o paso 1"/>
          <p:cNvSpPr txBox="1"/>
          <p:nvPr/>
        </p:nvSpPr>
        <p:spPr>
          <a:xfrm>
            <a:off x="896112" y="1060704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recetas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elige la receta.</a:t>
            </a:r>
            <a:endParaRPr lang="en-US" sz="1400" dirty="0"/>
          </a:p>
        </p:txBody>
      </p:sp>
      <p:sp>
        <p:nvSpPr>
          <p:cNvPr id="6" name="Paso 2"/>
          <p:cNvSpPr txBox="1"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o paso 2"/>
          <p:cNvSpPr txBox="1"/>
          <p:nvPr/>
        </p:nvSpPr>
        <p:spPr>
          <a:xfrm>
            <a:off x="896112" y="1664208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una organización o todas.</a:t>
            </a:r>
            <a:endParaRPr lang="en-US" sz="1400" dirty="0"/>
          </a:p>
        </p:txBody>
      </p:sp>
      <p:sp>
        <p:nvSpPr>
          <p:cNvPr id="8" name="Paso 3"/>
          <p:cNvSpPr txBox="1"/>
          <p:nvPr/>
        </p:nvSpPr>
        <p:spPr>
          <a:xfrm>
            <a:off x="457200" y="2322576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o paso 3"/>
          <p:cNvSpPr txBox="1"/>
          <p:nvPr/>
        </p:nvSpPr>
        <p:spPr>
          <a:xfrm>
            <a:off x="896112" y="226771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Paso 4"/>
          <p:cNvSpPr txBox="1"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o paso 4"/>
          <p:cNvSpPr txBox="1"/>
          <p:nvPr/>
        </p:nvSpPr>
        <p:spPr>
          <a:xfrm>
            <a:off x="896112" y="287121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Comparticiones activas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Desactivar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dejar de compartir.</a:t>
            </a:r>
            <a:endParaRPr lang="en-US" sz="1400" dirty="0"/>
          </a:p>
        </p:txBody>
      </p:sp>
      <p:pic>
        <p:nvPicPr>
          <p:cNvPr id="12" name="Captura 77" descr="Compartir una receta con otra organiz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270718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3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frecuentes</a:t>
            </a:r>
            <a:endParaRPr lang="en-US" sz="2600" dirty="0"/>
          </a:p>
        </p:txBody>
      </p:sp>
      <p:sp>
        <p:nvSpPr>
          <p:cNvPr id="3" name="FAQ 1"/>
          <p:cNvSpPr/>
          <p:nvPr/>
        </p:nvSpPr>
        <p:spPr>
          <a:xfrm>
            <a:off x="457200" y="1051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veo «Gerente»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 ven los gerentes. Prueba </a:t>
            </a:r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Recargar permisos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FAQ 2"/>
          <p:cNvSpPr/>
          <p:nvPr/>
        </p:nvSpPr>
        <p:spPr>
          <a:xfrm>
            <a:off x="4663440" y="1051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puedo emitir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gerente, sobre un borrador guardado y con datos fiscales.</a:t>
            </a:r>
            <a:endParaRPr lang="en-US" sz="1300" dirty="0"/>
          </a:p>
        </p:txBody>
      </p:sp>
      <p:sp>
        <p:nvSpPr>
          <p:cNvPr id="9" name="FAQ 3"/>
          <p:cNvSpPr/>
          <p:nvPr/>
        </p:nvSpPr>
        <p:spPr>
          <a:xfrm>
            <a:off x="45720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en una factura emitida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</a:t>
            </a:r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rectificativa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FAQ 4"/>
          <p:cNvSpPr/>
          <p:nvPr/>
        </p:nvSpPr>
        <p:spPr>
          <a:xfrm>
            <a:off x="466344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o Food Cost en «-»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cantidades o precios en los ingredientes.</a:t>
            </a:r>
            <a:endParaRPr lang="en-US" sz="1300" dirty="0"/>
          </a:p>
        </p:txBody>
      </p:sp>
      <p:sp>
        <p:nvSpPr>
          <p:cNvPr id="15" name="FAQ 5"/>
          <p:cNvSpPr/>
          <p:nvPr/>
        </p:nvSpPr>
        <p:spPr>
          <a:xfrm>
            <a:off x="45720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Perdí un código de invitación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 la invitación y genera otra.</a:t>
            </a:r>
            <a:endParaRPr lang="en-US" sz="1300" dirty="0"/>
          </a:p>
        </p:txBody>
      </p:sp>
      <p:sp>
        <p:nvSpPr>
          <p:cNvPr id="18" name="FAQ 6"/>
          <p:cNvSpPr/>
          <p:nvPr/>
        </p:nvSpPr>
        <p:spPr>
          <a:xfrm>
            <a:off x="466344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7F1E6"/>
          </a:solidFill>
          <a:ln w="12700">
            <a:solidFill>
              <a:srgbClr val="E8CD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alérgenos al copiar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gerente revisa los privados en </a:t>
            </a:r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propio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508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pPr indent="0" marL="0">
              <a:buNone/>
            </a:pPr>
            <a:r>
              <a:rPr lang="en-US" sz="1700" b="1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alérgenos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revisa siempre el establecimiento: etiquetas, ingredientes privados y recetas copiadas.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4231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documento </a:t>
            </a:r>
            <a:pPr indent="0" marL="0">
              <a:buNone/>
            </a:pPr>
            <a:r>
              <a:rPr lang="en-US" sz="1700" b="1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se modifica: las facturas se corrigen con </a:t>
            </a:r>
            <a:pPr indent="0" marL="0">
              <a:buNone/>
            </a:pPr>
            <a:r>
              <a:rPr lang="en-US" sz="1700" b="1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rectificativa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B890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3375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facturación </a:t>
            </a:r>
            <a:pPr indent="0" marL="0">
              <a:buNone/>
            </a:pPr>
            <a:r>
              <a:rPr lang="en-US" sz="1700" b="1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 certificada VERI*FACTU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consulta con tu gestoría.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Samirarte · Gestor de Escandallos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Samirarte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Gestor de Escandallos – Formación para Chef y Gerente</dc:title>
  <dc:subject>PptxGenJS Presentation</dc:subject>
  <dc:creator>Samirarte</dc:creator>
  <cp:lastModifiedBy>Samirarte</cp:lastModifiedBy>
  <cp:revision>1</cp:revision>
  <dcterms:created xsi:type="dcterms:W3CDTF">2026-10-23T18:39:55Z</dcterms:created>
  <dcterms:modified xsi:type="dcterms:W3CDTF">2026-10-23T18:39:55Z</dcterms:modified>
</cp:coreProperties>
</file>